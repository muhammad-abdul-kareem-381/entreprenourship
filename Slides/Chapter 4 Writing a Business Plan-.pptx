
<file path=[Content_Types].xml><?xml version="1.0" encoding="utf-8"?>
<Types xmlns="http://schemas.openxmlformats.org/package/2006/content-types">
  <Default Extension="gif" ContentType="image/gif"/>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10" r:id="rId2"/>
  </p:sldMasterIdLst>
  <p:notesMasterIdLst>
    <p:notesMasterId r:id="rId42"/>
  </p:notesMasterIdLst>
  <p:sldIdLst>
    <p:sldId id="1358" r:id="rId3"/>
    <p:sldId id="1329" r:id="rId4"/>
    <p:sldId id="1330" r:id="rId5"/>
    <p:sldId id="1331" r:id="rId6"/>
    <p:sldId id="1332" r:id="rId7"/>
    <p:sldId id="1333" r:id="rId8"/>
    <p:sldId id="1341" r:id="rId9"/>
    <p:sldId id="1345" r:id="rId10"/>
    <p:sldId id="1346" r:id="rId11"/>
    <p:sldId id="1347" r:id="rId12"/>
    <p:sldId id="1351" r:id="rId13"/>
    <p:sldId id="1354" r:id="rId14"/>
    <p:sldId id="1355" r:id="rId15"/>
    <p:sldId id="1356" r:id="rId16"/>
    <p:sldId id="1264" r:id="rId17"/>
    <p:sldId id="1316" r:id="rId18"/>
    <p:sldId id="1360" r:id="rId19"/>
    <p:sldId id="1288" r:id="rId20"/>
    <p:sldId id="1268" r:id="rId21"/>
    <p:sldId id="1289" r:id="rId22"/>
    <p:sldId id="1363" r:id="rId23"/>
    <p:sldId id="1364" r:id="rId24"/>
    <p:sldId id="1291" r:id="rId25"/>
    <p:sldId id="1293" r:id="rId26"/>
    <p:sldId id="1295" r:id="rId27"/>
    <p:sldId id="1361" r:id="rId28"/>
    <p:sldId id="1299" r:id="rId29"/>
    <p:sldId id="1362" r:id="rId30"/>
    <p:sldId id="1300" r:id="rId31"/>
    <p:sldId id="1301" r:id="rId32"/>
    <p:sldId id="1302" r:id="rId33"/>
    <p:sldId id="1303" r:id="rId34"/>
    <p:sldId id="1304" r:id="rId35"/>
    <p:sldId id="1305" r:id="rId36"/>
    <p:sldId id="1308" r:id="rId37"/>
    <p:sldId id="1359" r:id="rId38"/>
    <p:sldId id="1309" r:id="rId39"/>
    <p:sldId id="1365" r:id="rId40"/>
    <p:sldId id="1357" r:id="rId41"/>
  </p:sldIdLst>
  <p:sldSz cx="9144000" cy="6858000" type="screen4x3"/>
  <p:notesSz cx="6858000" cy="9144000"/>
  <p:defaultText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7" algn="l" defTabSz="914318" rtl="0" eaLnBrk="1" latinLnBrk="0" hangingPunct="1">
      <a:defRPr sz="1800" kern="1200">
        <a:solidFill>
          <a:schemeClr val="tx1"/>
        </a:solidFill>
        <a:latin typeface="+mn-lt"/>
        <a:ea typeface="+mn-ea"/>
        <a:cs typeface="+mn-cs"/>
      </a:defRPr>
    </a:lvl4pPr>
    <a:lvl5pPr marL="1828637" algn="l" defTabSz="914318" rtl="0" eaLnBrk="1" latinLnBrk="0" hangingPunct="1">
      <a:defRPr sz="1800" kern="1200">
        <a:solidFill>
          <a:schemeClr val="tx1"/>
        </a:solidFill>
        <a:latin typeface="+mn-lt"/>
        <a:ea typeface="+mn-ea"/>
        <a:cs typeface="+mn-cs"/>
      </a:defRPr>
    </a:lvl5pPr>
    <a:lvl6pPr marL="2285797" algn="l" defTabSz="914318" rtl="0" eaLnBrk="1" latinLnBrk="0" hangingPunct="1">
      <a:defRPr sz="1800" kern="1200">
        <a:solidFill>
          <a:schemeClr val="tx1"/>
        </a:solidFill>
        <a:latin typeface="+mn-lt"/>
        <a:ea typeface="+mn-ea"/>
        <a:cs typeface="+mn-cs"/>
      </a:defRPr>
    </a:lvl6pPr>
    <a:lvl7pPr marL="2742956" algn="l" defTabSz="914318" rtl="0" eaLnBrk="1" latinLnBrk="0" hangingPunct="1">
      <a:defRPr sz="1800" kern="1200">
        <a:solidFill>
          <a:schemeClr val="tx1"/>
        </a:solidFill>
        <a:latin typeface="+mn-lt"/>
        <a:ea typeface="+mn-ea"/>
        <a:cs typeface="+mn-cs"/>
      </a:defRPr>
    </a:lvl7pPr>
    <a:lvl8pPr marL="3200115" algn="l" defTabSz="914318" rtl="0" eaLnBrk="1" latinLnBrk="0" hangingPunct="1">
      <a:defRPr sz="1800" kern="1200">
        <a:solidFill>
          <a:schemeClr val="tx1"/>
        </a:solidFill>
        <a:latin typeface="+mn-lt"/>
        <a:ea typeface="+mn-ea"/>
        <a:cs typeface="+mn-cs"/>
      </a:defRPr>
    </a:lvl8pPr>
    <a:lvl9pPr marL="3657274" algn="l" defTabSz="91431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5B21"/>
    <a:srgbClr val="002060"/>
    <a:srgbClr val="4F0801"/>
    <a:srgbClr val="003300"/>
    <a:srgbClr val="BFBFBF"/>
    <a:srgbClr val="000000"/>
    <a:srgbClr val="008000"/>
    <a:srgbClr val="333300"/>
    <a:srgbClr val="006600"/>
    <a:srgbClr val="8F8F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662" autoAdjust="0"/>
    <p:restoredTop sz="80639" autoAdjust="0"/>
  </p:normalViewPr>
  <p:slideViewPr>
    <p:cSldViewPr>
      <p:cViewPr varScale="1">
        <p:scale>
          <a:sx n="82" d="100"/>
          <a:sy n="82" d="100"/>
        </p:scale>
        <p:origin x="1195" y="77"/>
      </p:cViewPr>
      <p:guideLst>
        <p:guide orient="horz" pos="2160"/>
        <p:guide pos="2880"/>
      </p:guideLst>
    </p:cSldViewPr>
  </p:slideViewPr>
  <p:outlineViewPr>
    <p:cViewPr>
      <p:scale>
        <a:sx n="33" d="100"/>
        <a:sy n="33" d="100"/>
      </p:scale>
      <p:origin x="0" y="3294"/>
    </p:cViewPr>
  </p:outlineViewPr>
  <p:notesTextViewPr>
    <p:cViewPr>
      <p:scale>
        <a:sx n="75" d="100"/>
        <a:sy n="75" d="100"/>
      </p:scale>
      <p:origin x="0" y="0"/>
    </p:cViewPr>
  </p:notesTextViewPr>
  <p:sorterViewPr>
    <p:cViewPr varScale="1">
      <p:scale>
        <a:sx n="100" d="100"/>
        <a:sy n="100" d="100"/>
      </p:scale>
      <p:origin x="0" y="0"/>
    </p:cViewPr>
  </p:sorterViewPr>
  <p:notesViewPr>
    <p:cSldViewPr>
      <p:cViewPr varScale="1">
        <p:scale>
          <a:sx n="35" d="100"/>
          <a:sy n="35" d="100"/>
        </p:scale>
        <p:origin x="-1554"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A4907F-2F36-473F-92DA-4E979FD5836D}" type="doc">
      <dgm:prSet loTypeId="urn:microsoft.com/office/officeart/2005/8/layout/vList5" loCatId="list" qsTypeId="urn:microsoft.com/office/officeart/2005/8/quickstyle/3d2" qsCatId="3D" csTypeId="urn:microsoft.com/office/officeart/2005/8/colors/colorful1" csCatId="colorful"/>
      <dgm:spPr/>
      <dgm:t>
        <a:bodyPr/>
        <a:lstStyle/>
        <a:p>
          <a:endParaRPr lang="en-US"/>
        </a:p>
      </dgm:t>
    </dgm:pt>
    <dgm:pt modelId="{A260B51B-4E1E-4311-9789-E2667994E5FE}">
      <dgm:prSet/>
      <dgm:spPr/>
      <dgm:t>
        <a:bodyPr/>
        <a:lstStyle/>
        <a:p>
          <a:pPr>
            <a:lnSpc>
              <a:spcPct val="100000"/>
            </a:lnSpc>
          </a:pPr>
          <a:r>
            <a:rPr lang="en-US"/>
            <a:t>Attract Financing</a:t>
          </a:r>
        </a:p>
      </dgm:t>
    </dgm:pt>
    <dgm:pt modelId="{F249B6D9-4686-48C5-AEF5-3D6B4CC9E5CB}" type="parTrans" cxnId="{D8D231E3-5875-415A-91C2-EFC628F78120}">
      <dgm:prSet/>
      <dgm:spPr/>
      <dgm:t>
        <a:bodyPr/>
        <a:lstStyle/>
        <a:p>
          <a:endParaRPr lang="en-US"/>
        </a:p>
      </dgm:t>
    </dgm:pt>
    <dgm:pt modelId="{9BCBCB6E-ACA3-4A37-8145-2DC6F38EBC95}" type="sibTrans" cxnId="{D8D231E3-5875-415A-91C2-EFC628F78120}">
      <dgm:prSet/>
      <dgm:spPr/>
      <dgm:t>
        <a:bodyPr/>
        <a:lstStyle/>
        <a:p>
          <a:endParaRPr lang="en-US"/>
        </a:p>
      </dgm:t>
    </dgm:pt>
    <dgm:pt modelId="{6C8CC39C-851A-4A48-87D6-AF86B3AEFC88}">
      <dgm:prSet/>
      <dgm:spPr/>
      <dgm:t>
        <a:bodyPr/>
        <a:lstStyle/>
        <a:p>
          <a:pPr>
            <a:lnSpc>
              <a:spcPct val="100000"/>
            </a:lnSpc>
          </a:pPr>
          <a:r>
            <a:rPr lang="en-US"/>
            <a:t>Future Vision</a:t>
          </a:r>
        </a:p>
      </dgm:t>
    </dgm:pt>
    <dgm:pt modelId="{F7603A51-8ED8-4292-A4ED-C401A457CF14}" type="parTrans" cxnId="{A92F69D9-EC6A-4265-B28E-CFF9CC09E45F}">
      <dgm:prSet/>
      <dgm:spPr/>
      <dgm:t>
        <a:bodyPr/>
        <a:lstStyle/>
        <a:p>
          <a:endParaRPr lang="en-US"/>
        </a:p>
      </dgm:t>
    </dgm:pt>
    <dgm:pt modelId="{2E8FB25E-5F60-470F-96C8-AB1DBD9AC3D3}" type="sibTrans" cxnId="{A92F69D9-EC6A-4265-B28E-CFF9CC09E45F}">
      <dgm:prSet/>
      <dgm:spPr/>
      <dgm:t>
        <a:bodyPr/>
        <a:lstStyle/>
        <a:p>
          <a:endParaRPr lang="en-US"/>
        </a:p>
      </dgm:t>
    </dgm:pt>
    <dgm:pt modelId="{9024D63B-9CD9-477B-827B-83F8413A2EBD}">
      <dgm:prSet/>
      <dgm:spPr/>
      <dgm:t>
        <a:bodyPr/>
        <a:lstStyle/>
        <a:p>
          <a:pPr>
            <a:lnSpc>
              <a:spcPct val="100000"/>
            </a:lnSpc>
          </a:pPr>
          <a:r>
            <a:rPr lang="en-US"/>
            <a:t>Attract Team Members</a:t>
          </a:r>
        </a:p>
      </dgm:t>
    </dgm:pt>
    <dgm:pt modelId="{2CB93F03-5E4D-40F4-B0AE-CCEF5D502E16}" type="parTrans" cxnId="{97A23824-FE02-453D-9A34-8F2AFDD6792D}">
      <dgm:prSet/>
      <dgm:spPr/>
      <dgm:t>
        <a:bodyPr/>
        <a:lstStyle/>
        <a:p>
          <a:endParaRPr lang="en-US"/>
        </a:p>
      </dgm:t>
    </dgm:pt>
    <dgm:pt modelId="{5568A45E-412E-4FED-AA69-A859D4B5ACAA}" type="sibTrans" cxnId="{97A23824-FE02-453D-9A34-8F2AFDD6792D}">
      <dgm:prSet/>
      <dgm:spPr/>
      <dgm:t>
        <a:bodyPr/>
        <a:lstStyle/>
        <a:p>
          <a:endParaRPr lang="en-US"/>
        </a:p>
      </dgm:t>
    </dgm:pt>
    <dgm:pt modelId="{2D82B5B1-11DD-4A0B-9629-797FEDE0596C}">
      <dgm:prSet/>
      <dgm:spPr/>
      <dgm:t>
        <a:bodyPr/>
        <a:lstStyle/>
        <a:p>
          <a:pPr>
            <a:lnSpc>
              <a:spcPct val="100000"/>
            </a:lnSpc>
          </a:pPr>
          <a:r>
            <a:rPr lang="en-US"/>
            <a:t>Manage Company</a:t>
          </a:r>
        </a:p>
      </dgm:t>
    </dgm:pt>
    <dgm:pt modelId="{3329B819-07AC-4B04-BAF8-708542C1511A}" type="parTrans" cxnId="{36DC355C-5927-4229-B708-6FDB3FD43A1E}">
      <dgm:prSet/>
      <dgm:spPr/>
      <dgm:t>
        <a:bodyPr/>
        <a:lstStyle/>
        <a:p>
          <a:endParaRPr lang="en-US"/>
        </a:p>
      </dgm:t>
    </dgm:pt>
    <dgm:pt modelId="{9ED3BC4F-AC4F-4E90-ACC2-BE17D7897B33}" type="sibTrans" cxnId="{36DC355C-5927-4229-B708-6FDB3FD43A1E}">
      <dgm:prSet/>
      <dgm:spPr/>
      <dgm:t>
        <a:bodyPr/>
        <a:lstStyle/>
        <a:p>
          <a:endParaRPr lang="en-US"/>
        </a:p>
      </dgm:t>
    </dgm:pt>
    <dgm:pt modelId="{C0511739-21D6-4D90-A3E0-E6A8A8E4DC05}">
      <dgm:prSet/>
      <dgm:spPr/>
      <dgm:t>
        <a:bodyPr/>
        <a:lstStyle/>
        <a:p>
          <a:pPr>
            <a:lnSpc>
              <a:spcPct val="100000"/>
            </a:lnSpc>
          </a:pPr>
          <a:r>
            <a:rPr lang="en-US"/>
            <a:t>Clarify Direction</a:t>
          </a:r>
        </a:p>
      </dgm:t>
    </dgm:pt>
    <dgm:pt modelId="{4BB29E92-BB2C-4E07-8237-4857BD5EB132}" type="parTrans" cxnId="{B3E59965-6FB5-4A49-95F9-D84696BE502A}">
      <dgm:prSet/>
      <dgm:spPr/>
      <dgm:t>
        <a:bodyPr/>
        <a:lstStyle/>
        <a:p>
          <a:endParaRPr lang="en-US"/>
        </a:p>
      </dgm:t>
    </dgm:pt>
    <dgm:pt modelId="{1471B88A-1890-4379-9321-5A4D1CCE6544}" type="sibTrans" cxnId="{B3E59965-6FB5-4A49-95F9-D84696BE502A}">
      <dgm:prSet/>
      <dgm:spPr/>
      <dgm:t>
        <a:bodyPr/>
        <a:lstStyle/>
        <a:p>
          <a:endParaRPr lang="en-US"/>
        </a:p>
      </dgm:t>
    </dgm:pt>
    <dgm:pt modelId="{38505843-1271-4DE4-821E-0859A6CAA621}" type="pres">
      <dgm:prSet presAssocID="{44A4907F-2F36-473F-92DA-4E979FD5836D}" presName="Name0" presStyleCnt="0">
        <dgm:presLayoutVars>
          <dgm:dir/>
          <dgm:animLvl val="lvl"/>
          <dgm:resizeHandles val="exact"/>
        </dgm:presLayoutVars>
      </dgm:prSet>
      <dgm:spPr/>
    </dgm:pt>
    <dgm:pt modelId="{B677BC59-F386-4CFF-B21C-3C9331D70226}" type="pres">
      <dgm:prSet presAssocID="{A260B51B-4E1E-4311-9789-E2667994E5FE}" presName="linNode" presStyleCnt="0"/>
      <dgm:spPr/>
    </dgm:pt>
    <dgm:pt modelId="{CC2EA3F1-E018-4518-932C-B7B369CE32AB}" type="pres">
      <dgm:prSet presAssocID="{A260B51B-4E1E-4311-9789-E2667994E5FE}" presName="parentText" presStyleLbl="node1" presStyleIdx="0" presStyleCnt="5">
        <dgm:presLayoutVars>
          <dgm:chMax val="1"/>
          <dgm:bulletEnabled val="1"/>
        </dgm:presLayoutVars>
      </dgm:prSet>
      <dgm:spPr/>
    </dgm:pt>
    <dgm:pt modelId="{178C46F5-C9F4-4A06-831D-4AFE88D5FCAB}" type="pres">
      <dgm:prSet presAssocID="{9BCBCB6E-ACA3-4A37-8145-2DC6F38EBC95}" presName="sp" presStyleCnt="0"/>
      <dgm:spPr/>
    </dgm:pt>
    <dgm:pt modelId="{5B32A03B-D518-4A03-8E5E-E0043D0FB579}" type="pres">
      <dgm:prSet presAssocID="{6C8CC39C-851A-4A48-87D6-AF86B3AEFC88}" presName="linNode" presStyleCnt="0"/>
      <dgm:spPr/>
    </dgm:pt>
    <dgm:pt modelId="{ED9AB6D5-44BC-4B79-8094-50B74F657548}" type="pres">
      <dgm:prSet presAssocID="{6C8CC39C-851A-4A48-87D6-AF86B3AEFC88}" presName="parentText" presStyleLbl="node1" presStyleIdx="1" presStyleCnt="5">
        <dgm:presLayoutVars>
          <dgm:chMax val="1"/>
          <dgm:bulletEnabled val="1"/>
        </dgm:presLayoutVars>
      </dgm:prSet>
      <dgm:spPr/>
    </dgm:pt>
    <dgm:pt modelId="{EC95D3F5-32E5-496B-8024-200C9F6912FB}" type="pres">
      <dgm:prSet presAssocID="{2E8FB25E-5F60-470F-96C8-AB1DBD9AC3D3}" presName="sp" presStyleCnt="0"/>
      <dgm:spPr/>
    </dgm:pt>
    <dgm:pt modelId="{28F81491-22A4-4A16-B220-891C5ED76AED}" type="pres">
      <dgm:prSet presAssocID="{9024D63B-9CD9-477B-827B-83F8413A2EBD}" presName="linNode" presStyleCnt="0"/>
      <dgm:spPr/>
    </dgm:pt>
    <dgm:pt modelId="{8BF8D6F6-5011-404D-9586-E1BFEA06F0F5}" type="pres">
      <dgm:prSet presAssocID="{9024D63B-9CD9-477B-827B-83F8413A2EBD}" presName="parentText" presStyleLbl="node1" presStyleIdx="2" presStyleCnt="5">
        <dgm:presLayoutVars>
          <dgm:chMax val="1"/>
          <dgm:bulletEnabled val="1"/>
        </dgm:presLayoutVars>
      </dgm:prSet>
      <dgm:spPr/>
    </dgm:pt>
    <dgm:pt modelId="{AC17F06A-8A3B-42B4-8909-8DACFC920F50}" type="pres">
      <dgm:prSet presAssocID="{5568A45E-412E-4FED-AA69-A859D4B5ACAA}" presName="sp" presStyleCnt="0"/>
      <dgm:spPr/>
    </dgm:pt>
    <dgm:pt modelId="{7AD6E9A6-BFD2-4376-80D1-F9E12E54EFD1}" type="pres">
      <dgm:prSet presAssocID="{2D82B5B1-11DD-4A0B-9629-797FEDE0596C}" presName="linNode" presStyleCnt="0"/>
      <dgm:spPr/>
    </dgm:pt>
    <dgm:pt modelId="{C8CF1CC1-503B-4DF3-ACC6-ACF12C8FCC97}" type="pres">
      <dgm:prSet presAssocID="{2D82B5B1-11DD-4A0B-9629-797FEDE0596C}" presName="parentText" presStyleLbl="node1" presStyleIdx="3" presStyleCnt="5">
        <dgm:presLayoutVars>
          <dgm:chMax val="1"/>
          <dgm:bulletEnabled val="1"/>
        </dgm:presLayoutVars>
      </dgm:prSet>
      <dgm:spPr/>
    </dgm:pt>
    <dgm:pt modelId="{17392B03-39D8-42F2-AE5F-7AB52C6B5E55}" type="pres">
      <dgm:prSet presAssocID="{9ED3BC4F-AC4F-4E90-ACC2-BE17D7897B33}" presName="sp" presStyleCnt="0"/>
      <dgm:spPr/>
    </dgm:pt>
    <dgm:pt modelId="{6DC44931-7D2A-4153-9618-A1A076D6D4FF}" type="pres">
      <dgm:prSet presAssocID="{C0511739-21D6-4D90-A3E0-E6A8A8E4DC05}" presName="linNode" presStyleCnt="0"/>
      <dgm:spPr/>
    </dgm:pt>
    <dgm:pt modelId="{910C844C-C67C-4F73-A95C-7A19967A7FB2}" type="pres">
      <dgm:prSet presAssocID="{C0511739-21D6-4D90-A3E0-E6A8A8E4DC05}" presName="parentText" presStyleLbl="node1" presStyleIdx="4" presStyleCnt="5">
        <dgm:presLayoutVars>
          <dgm:chMax val="1"/>
          <dgm:bulletEnabled val="1"/>
        </dgm:presLayoutVars>
      </dgm:prSet>
      <dgm:spPr/>
    </dgm:pt>
  </dgm:ptLst>
  <dgm:cxnLst>
    <dgm:cxn modelId="{97A23824-FE02-453D-9A34-8F2AFDD6792D}" srcId="{44A4907F-2F36-473F-92DA-4E979FD5836D}" destId="{9024D63B-9CD9-477B-827B-83F8413A2EBD}" srcOrd="2" destOrd="0" parTransId="{2CB93F03-5E4D-40F4-B0AE-CCEF5D502E16}" sibTransId="{5568A45E-412E-4FED-AA69-A859D4B5ACAA}"/>
    <dgm:cxn modelId="{2877B037-06AE-4D91-93DF-0D075CB61998}" type="presOf" srcId="{2D82B5B1-11DD-4A0B-9629-797FEDE0596C}" destId="{C8CF1CC1-503B-4DF3-ACC6-ACF12C8FCC97}" srcOrd="0" destOrd="0" presId="urn:microsoft.com/office/officeart/2005/8/layout/vList5"/>
    <dgm:cxn modelId="{1DC90D3A-5D30-43CE-BD7C-BB39A088B891}" type="presOf" srcId="{44A4907F-2F36-473F-92DA-4E979FD5836D}" destId="{38505843-1271-4DE4-821E-0859A6CAA621}" srcOrd="0" destOrd="0" presId="urn:microsoft.com/office/officeart/2005/8/layout/vList5"/>
    <dgm:cxn modelId="{36DC355C-5927-4229-B708-6FDB3FD43A1E}" srcId="{44A4907F-2F36-473F-92DA-4E979FD5836D}" destId="{2D82B5B1-11DD-4A0B-9629-797FEDE0596C}" srcOrd="3" destOrd="0" parTransId="{3329B819-07AC-4B04-BAF8-708542C1511A}" sibTransId="{9ED3BC4F-AC4F-4E90-ACC2-BE17D7897B33}"/>
    <dgm:cxn modelId="{42477462-5446-49FB-83E5-406BA67D4091}" type="presOf" srcId="{9024D63B-9CD9-477B-827B-83F8413A2EBD}" destId="{8BF8D6F6-5011-404D-9586-E1BFEA06F0F5}" srcOrd="0" destOrd="0" presId="urn:microsoft.com/office/officeart/2005/8/layout/vList5"/>
    <dgm:cxn modelId="{B3E59965-6FB5-4A49-95F9-D84696BE502A}" srcId="{44A4907F-2F36-473F-92DA-4E979FD5836D}" destId="{C0511739-21D6-4D90-A3E0-E6A8A8E4DC05}" srcOrd="4" destOrd="0" parTransId="{4BB29E92-BB2C-4E07-8237-4857BD5EB132}" sibTransId="{1471B88A-1890-4379-9321-5A4D1CCE6544}"/>
    <dgm:cxn modelId="{629FB06D-8F7E-46B3-BB23-AEB9315D93BD}" type="presOf" srcId="{A260B51B-4E1E-4311-9789-E2667994E5FE}" destId="{CC2EA3F1-E018-4518-932C-B7B369CE32AB}" srcOrd="0" destOrd="0" presId="urn:microsoft.com/office/officeart/2005/8/layout/vList5"/>
    <dgm:cxn modelId="{93814A8F-262A-4057-8E12-F5783DA42EB6}" type="presOf" srcId="{C0511739-21D6-4D90-A3E0-E6A8A8E4DC05}" destId="{910C844C-C67C-4F73-A95C-7A19967A7FB2}" srcOrd="0" destOrd="0" presId="urn:microsoft.com/office/officeart/2005/8/layout/vList5"/>
    <dgm:cxn modelId="{A92F69D9-EC6A-4265-B28E-CFF9CC09E45F}" srcId="{44A4907F-2F36-473F-92DA-4E979FD5836D}" destId="{6C8CC39C-851A-4A48-87D6-AF86B3AEFC88}" srcOrd="1" destOrd="0" parTransId="{F7603A51-8ED8-4292-A4ED-C401A457CF14}" sibTransId="{2E8FB25E-5F60-470F-96C8-AB1DBD9AC3D3}"/>
    <dgm:cxn modelId="{D8D231E3-5875-415A-91C2-EFC628F78120}" srcId="{44A4907F-2F36-473F-92DA-4E979FD5836D}" destId="{A260B51B-4E1E-4311-9789-E2667994E5FE}" srcOrd="0" destOrd="0" parTransId="{F249B6D9-4686-48C5-AEF5-3D6B4CC9E5CB}" sibTransId="{9BCBCB6E-ACA3-4A37-8145-2DC6F38EBC95}"/>
    <dgm:cxn modelId="{255D3EE8-BDA9-4190-9DF1-147DBAEF4F0D}" type="presOf" srcId="{6C8CC39C-851A-4A48-87D6-AF86B3AEFC88}" destId="{ED9AB6D5-44BC-4B79-8094-50B74F657548}" srcOrd="0" destOrd="0" presId="urn:microsoft.com/office/officeart/2005/8/layout/vList5"/>
    <dgm:cxn modelId="{587C384A-9549-4742-A949-4A8006FB7390}" type="presParOf" srcId="{38505843-1271-4DE4-821E-0859A6CAA621}" destId="{B677BC59-F386-4CFF-B21C-3C9331D70226}" srcOrd="0" destOrd="0" presId="urn:microsoft.com/office/officeart/2005/8/layout/vList5"/>
    <dgm:cxn modelId="{82B52380-A6B8-4D28-9F6A-F30178B776EA}" type="presParOf" srcId="{B677BC59-F386-4CFF-B21C-3C9331D70226}" destId="{CC2EA3F1-E018-4518-932C-B7B369CE32AB}" srcOrd="0" destOrd="0" presId="urn:microsoft.com/office/officeart/2005/8/layout/vList5"/>
    <dgm:cxn modelId="{2BADBB62-75DA-4B4B-95F7-C5F5E2195064}" type="presParOf" srcId="{38505843-1271-4DE4-821E-0859A6CAA621}" destId="{178C46F5-C9F4-4A06-831D-4AFE88D5FCAB}" srcOrd="1" destOrd="0" presId="urn:microsoft.com/office/officeart/2005/8/layout/vList5"/>
    <dgm:cxn modelId="{5DAE0D8A-5A46-4BBC-BF13-B737D4D26E01}" type="presParOf" srcId="{38505843-1271-4DE4-821E-0859A6CAA621}" destId="{5B32A03B-D518-4A03-8E5E-E0043D0FB579}" srcOrd="2" destOrd="0" presId="urn:microsoft.com/office/officeart/2005/8/layout/vList5"/>
    <dgm:cxn modelId="{C0C3493D-A117-4B52-81D0-D8CE5C88DD56}" type="presParOf" srcId="{5B32A03B-D518-4A03-8E5E-E0043D0FB579}" destId="{ED9AB6D5-44BC-4B79-8094-50B74F657548}" srcOrd="0" destOrd="0" presId="urn:microsoft.com/office/officeart/2005/8/layout/vList5"/>
    <dgm:cxn modelId="{C8F1E100-338C-42C1-A1F2-B5B8A2D7BB8A}" type="presParOf" srcId="{38505843-1271-4DE4-821E-0859A6CAA621}" destId="{EC95D3F5-32E5-496B-8024-200C9F6912FB}" srcOrd="3" destOrd="0" presId="urn:microsoft.com/office/officeart/2005/8/layout/vList5"/>
    <dgm:cxn modelId="{EF926787-B518-4C81-B8EC-E2BF95995DA3}" type="presParOf" srcId="{38505843-1271-4DE4-821E-0859A6CAA621}" destId="{28F81491-22A4-4A16-B220-891C5ED76AED}" srcOrd="4" destOrd="0" presId="urn:microsoft.com/office/officeart/2005/8/layout/vList5"/>
    <dgm:cxn modelId="{567A4F13-E3A3-46C0-A766-E838FC4F1A53}" type="presParOf" srcId="{28F81491-22A4-4A16-B220-891C5ED76AED}" destId="{8BF8D6F6-5011-404D-9586-E1BFEA06F0F5}" srcOrd="0" destOrd="0" presId="urn:microsoft.com/office/officeart/2005/8/layout/vList5"/>
    <dgm:cxn modelId="{07B3272A-6C71-4B3E-B976-B23B510306C3}" type="presParOf" srcId="{38505843-1271-4DE4-821E-0859A6CAA621}" destId="{AC17F06A-8A3B-42B4-8909-8DACFC920F50}" srcOrd="5" destOrd="0" presId="urn:microsoft.com/office/officeart/2005/8/layout/vList5"/>
    <dgm:cxn modelId="{3723E0D4-DD9F-4E5B-B6BE-EAFE71C83D5E}" type="presParOf" srcId="{38505843-1271-4DE4-821E-0859A6CAA621}" destId="{7AD6E9A6-BFD2-4376-80D1-F9E12E54EFD1}" srcOrd="6" destOrd="0" presId="urn:microsoft.com/office/officeart/2005/8/layout/vList5"/>
    <dgm:cxn modelId="{13602830-EFD5-4373-A327-204188FA4C5D}" type="presParOf" srcId="{7AD6E9A6-BFD2-4376-80D1-F9E12E54EFD1}" destId="{C8CF1CC1-503B-4DF3-ACC6-ACF12C8FCC97}" srcOrd="0" destOrd="0" presId="urn:microsoft.com/office/officeart/2005/8/layout/vList5"/>
    <dgm:cxn modelId="{EB6A21CD-68AE-41F7-BAF3-4844970319F8}" type="presParOf" srcId="{38505843-1271-4DE4-821E-0859A6CAA621}" destId="{17392B03-39D8-42F2-AE5F-7AB52C6B5E55}" srcOrd="7" destOrd="0" presId="urn:microsoft.com/office/officeart/2005/8/layout/vList5"/>
    <dgm:cxn modelId="{7F284A3C-95A2-4DD6-B1B0-D9C66222F5FB}" type="presParOf" srcId="{38505843-1271-4DE4-821E-0859A6CAA621}" destId="{6DC44931-7D2A-4153-9618-A1A076D6D4FF}" srcOrd="8" destOrd="0" presId="urn:microsoft.com/office/officeart/2005/8/layout/vList5"/>
    <dgm:cxn modelId="{D2B773E5-4466-41BD-A89E-C6E0B1CF7697}" type="presParOf" srcId="{6DC44931-7D2A-4153-9618-A1A076D6D4FF}" destId="{910C844C-C67C-4F73-A95C-7A19967A7FB2}"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6340744-F753-47E3-A874-90A92B03AE6F}"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CB163E0-6744-46F8-883F-019BDA4F9D98}">
      <dgm:prSet/>
      <dgm:spPr/>
      <dgm:t>
        <a:bodyPr/>
        <a:lstStyle/>
        <a:p>
          <a:r>
            <a:rPr lang="en-US" b="1" dirty="0">
              <a:solidFill>
                <a:schemeClr val="bg1"/>
              </a:solidFill>
            </a:rPr>
            <a:t>Executive Summary</a:t>
          </a:r>
          <a:endParaRPr lang="en-US" dirty="0">
            <a:solidFill>
              <a:schemeClr val="bg1"/>
            </a:solidFill>
          </a:endParaRPr>
        </a:p>
      </dgm:t>
    </dgm:pt>
    <dgm:pt modelId="{09D1E0AF-98B7-4ABD-B7EC-408285A896A5}" type="parTrans" cxnId="{8E4B697F-9934-4529-9F45-17C676E3906B}">
      <dgm:prSet/>
      <dgm:spPr/>
      <dgm:t>
        <a:bodyPr/>
        <a:lstStyle/>
        <a:p>
          <a:endParaRPr lang="en-US"/>
        </a:p>
      </dgm:t>
    </dgm:pt>
    <dgm:pt modelId="{DCCA8BA6-E631-4AEC-8D76-CEBDAFDF4B19}" type="sibTrans" cxnId="{8E4B697F-9934-4529-9F45-17C676E3906B}">
      <dgm:prSet/>
      <dgm:spPr/>
      <dgm:t>
        <a:bodyPr/>
        <a:lstStyle/>
        <a:p>
          <a:endParaRPr lang="en-US"/>
        </a:p>
      </dgm:t>
    </dgm:pt>
    <dgm:pt modelId="{06FA0C66-450B-4D06-9222-295FBB5F03DF}">
      <dgm:prSet/>
      <dgm:spPr/>
      <dgm:t>
        <a:bodyPr/>
        <a:lstStyle/>
        <a:p>
          <a:r>
            <a:rPr lang="en-US" b="1" dirty="0">
              <a:solidFill>
                <a:schemeClr val="bg1"/>
              </a:solidFill>
            </a:rPr>
            <a:t>Industry Analysis</a:t>
          </a:r>
          <a:endParaRPr lang="en-US" dirty="0">
            <a:solidFill>
              <a:schemeClr val="bg1"/>
            </a:solidFill>
          </a:endParaRPr>
        </a:p>
      </dgm:t>
    </dgm:pt>
    <dgm:pt modelId="{5103EEB8-7FA7-454B-A4DE-FFB52B54AFE5}" type="parTrans" cxnId="{3054F3D2-604B-4466-B7DA-B03C74F8E577}">
      <dgm:prSet/>
      <dgm:spPr/>
      <dgm:t>
        <a:bodyPr/>
        <a:lstStyle/>
        <a:p>
          <a:endParaRPr lang="en-US"/>
        </a:p>
      </dgm:t>
    </dgm:pt>
    <dgm:pt modelId="{AB1E706A-12C7-477C-AF14-7F1440B5AB2A}" type="sibTrans" cxnId="{3054F3D2-604B-4466-B7DA-B03C74F8E577}">
      <dgm:prSet/>
      <dgm:spPr/>
      <dgm:t>
        <a:bodyPr/>
        <a:lstStyle/>
        <a:p>
          <a:endParaRPr lang="en-US"/>
        </a:p>
      </dgm:t>
    </dgm:pt>
    <dgm:pt modelId="{33E0901A-8740-461A-82D0-8FDF7CB1660C}">
      <dgm:prSet/>
      <dgm:spPr/>
      <dgm:t>
        <a:bodyPr/>
        <a:lstStyle/>
        <a:p>
          <a:r>
            <a:rPr lang="en-US" b="1" dirty="0">
              <a:solidFill>
                <a:schemeClr val="bg1"/>
              </a:solidFill>
            </a:rPr>
            <a:t>Company Description</a:t>
          </a:r>
          <a:endParaRPr lang="en-US" dirty="0">
            <a:solidFill>
              <a:schemeClr val="bg1"/>
            </a:solidFill>
          </a:endParaRPr>
        </a:p>
      </dgm:t>
    </dgm:pt>
    <dgm:pt modelId="{9C5D0478-297A-4809-8FB8-AC5C244B8F07}" type="parTrans" cxnId="{2FFF335C-5CC4-48FA-8CC5-27D7E3B95F62}">
      <dgm:prSet/>
      <dgm:spPr/>
      <dgm:t>
        <a:bodyPr/>
        <a:lstStyle/>
        <a:p>
          <a:endParaRPr lang="en-US"/>
        </a:p>
      </dgm:t>
    </dgm:pt>
    <dgm:pt modelId="{E04A6D84-11DF-48C0-A91C-3F7534834EC7}" type="sibTrans" cxnId="{2FFF335C-5CC4-48FA-8CC5-27D7E3B95F62}">
      <dgm:prSet/>
      <dgm:spPr/>
      <dgm:t>
        <a:bodyPr/>
        <a:lstStyle/>
        <a:p>
          <a:endParaRPr lang="en-US"/>
        </a:p>
      </dgm:t>
    </dgm:pt>
    <dgm:pt modelId="{7AE9417E-26C0-4E66-8FFD-354AA9D3312C}">
      <dgm:prSet/>
      <dgm:spPr/>
      <dgm:t>
        <a:bodyPr/>
        <a:lstStyle/>
        <a:p>
          <a:r>
            <a:rPr lang="en-US" b="1" dirty="0">
              <a:solidFill>
                <a:schemeClr val="bg1"/>
              </a:solidFill>
            </a:rPr>
            <a:t>Market Analysis</a:t>
          </a:r>
          <a:endParaRPr lang="en-US" dirty="0">
            <a:solidFill>
              <a:schemeClr val="bg1"/>
            </a:solidFill>
          </a:endParaRPr>
        </a:p>
      </dgm:t>
    </dgm:pt>
    <dgm:pt modelId="{A695C4ED-B04F-4E4D-BA13-DDB53BA342A4}" type="parTrans" cxnId="{C7ABDB5C-8759-475B-8E95-31742C2D755C}">
      <dgm:prSet/>
      <dgm:spPr/>
      <dgm:t>
        <a:bodyPr/>
        <a:lstStyle/>
        <a:p>
          <a:endParaRPr lang="en-US"/>
        </a:p>
      </dgm:t>
    </dgm:pt>
    <dgm:pt modelId="{D2D386C0-24E3-4469-AC2C-6BF1B93EADA3}" type="sibTrans" cxnId="{C7ABDB5C-8759-475B-8E95-31742C2D755C}">
      <dgm:prSet/>
      <dgm:spPr/>
      <dgm:t>
        <a:bodyPr/>
        <a:lstStyle/>
        <a:p>
          <a:endParaRPr lang="en-US"/>
        </a:p>
      </dgm:t>
    </dgm:pt>
    <dgm:pt modelId="{9CAF8868-9F2D-486B-B401-6AC07987416A}">
      <dgm:prSet/>
      <dgm:spPr/>
      <dgm:t>
        <a:bodyPr/>
        <a:lstStyle/>
        <a:p>
          <a:r>
            <a:rPr lang="en-US" b="1" dirty="0">
              <a:solidFill>
                <a:schemeClr val="bg1"/>
              </a:solidFill>
            </a:rPr>
            <a:t>Economics of the Business</a:t>
          </a:r>
          <a:endParaRPr lang="en-US" dirty="0">
            <a:solidFill>
              <a:schemeClr val="bg1"/>
            </a:solidFill>
          </a:endParaRPr>
        </a:p>
      </dgm:t>
    </dgm:pt>
    <dgm:pt modelId="{B01FB08F-81B5-48CC-A8DA-05E7D12217C2}" type="parTrans" cxnId="{6590A559-095E-4F68-911A-A753FB545021}">
      <dgm:prSet/>
      <dgm:spPr/>
      <dgm:t>
        <a:bodyPr/>
        <a:lstStyle/>
        <a:p>
          <a:endParaRPr lang="en-US"/>
        </a:p>
      </dgm:t>
    </dgm:pt>
    <dgm:pt modelId="{D95B9C08-6AAC-4AD3-B5AC-3917D346EE9F}" type="sibTrans" cxnId="{6590A559-095E-4F68-911A-A753FB545021}">
      <dgm:prSet/>
      <dgm:spPr/>
      <dgm:t>
        <a:bodyPr/>
        <a:lstStyle/>
        <a:p>
          <a:endParaRPr lang="en-US"/>
        </a:p>
      </dgm:t>
    </dgm:pt>
    <dgm:pt modelId="{B4FD047E-8D82-4E9C-B9E8-B92716469D7A}">
      <dgm:prSet/>
      <dgm:spPr/>
      <dgm:t>
        <a:bodyPr/>
        <a:lstStyle/>
        <a:p>
          <a:r>
            <a:rPr lang="en-US" b="1" dirty="0">
              <a:solidFill>
                <a:schemeClr val="bg1"/>
              </a:solidFill>
            </a:rPr>
            <a:t>Marketing Plan</a:t>
          </a:r>
          <a:endParaRPr lang="en-US" dirty="0">
            <a:solidFill>
              <a:schemeClr val="bg1"/>
            </a:solidFill>
          </a:endParaRPr>
        </a:p>
      </dgm:t>
    </dgm:pt>
    <dgm:pt modelId="{B4CD8DDD-8175-471D-A532-850CEB594F8B}" type="parTrans" cxnId="{09493640-80DC-45AE-8A4C-AD0396024FF1}">
      <dgm:prSet/>
      <dgm:spPr/>
      <dgm:t>
        <a:bodyPr/>
        <a:lstStyle/>
        <a:p>
          <a:endParaRPr lang="en-US"/>
        </a:p>
      </dgm:t>
    </dgm:pt>
    <dgm:pt modelId="{1968D737-6D6C-49BE-8B5E-36647F46A82B}" type="sibTrans" cxnId="{09493640-80DC-45AE-8A4C-AD0396024FF1}">
      <dgm:prSet/>
      <dgm:spPr/>
      <dgm:t>
        <a:bodyPr/>
        <a:lstStyle/>
        <a:p>
          <a:endParaRPr lang="en-US"/>
        </a:p>
      </dgm:t>
    </dgm:pt>
    <dgm:pt modelId="{AEC6B4BD-C752-499B-BB61-29C475F3ECD8}">
      <dgm:prSet/>
      <dgm:spPr/>
      <dgm:t>
        <a:bodyPr/>
        <a:lstStyle/>
        <a:p>
          <a:r>
            <a:rPr lang="en-US" b="1" dirty="0">
              <a:solidFill>
                <a:schemeClr val="bg1"/>
              </a:solidFill>
            </a:rPr>
            <a:t>Operations Plan</a:t>
          </a:r>
          <a:endParaRPr lang="en-US" dirty="0">
            <a:solidFill>
              <a:schemeClr val="bg1"/>
            </a:solidFill>
          </a:endParaRPr>
        </a:p>
      </dgm:t>
    </dgm:pt>
    <dgm:pt modelId="{12CB410E-F253-4548-810C-9F12BF745AC3}" type="parTrans" cxnId="{3B0D2010-AB24-44DF-A5F6-5BD5299F1A05}">
      <dgm:prSet/>
      <dgm:spPr/>
      <dgm:t>
        <a:bodyPr/>
        <a:lstStyle/>
        <a:p>
          <a:endParaRPr lang="en-US"/>
        </a:p>
      </dgm:t>
    </dgm:pt>
    <dgm:pt modelId="{9DB39B04-9D82-4F8F-8547-6B3C6541F36D}" type="sibTrans" cxnId="{3B0D2010-AB24-44DF-A5F6-5BD5299F1A05}">
      <dgm:prSet/>
      <dgm:spPr/>
      <dgm:t>
        <a:bodyPr/>
        <a:lstStyle/>
        <a:p>
          <a:endParaRPr lang="en-US"/>
        </a:p>
      </dgm:t>
    </dgm:pt>
    <dgm:pt modelId="{69C8FDB8-692B-412A-A2B4-AD367CE23CFE}">
      <dgm:prSet/>
      <dgm:spPr/>
      <dgm:t>
        <a:bodyPr/>
        <a:lstStyle/>
        <a:p>
          <a:r>
            <a:rPr lang="en-US" b="1" dirty="0">
              <a:solidFill>
                <a:schemeClr val="bg1"/>
              </a:solidFill>
            </a:rPr>
            <a:t>Management Team and Company Structure</a:t>
          </a:r>
          <a:endParaRPr lang="en-US" dirty="0">
            <a:solidFill>
              <a:schemeClr val="bg1"/>
            </a:solidFill>
          </a:endParaRPr>
        </a:p>
      </dgm:t>
    </dgm:pt>
    <dgm:pt modelId="{CD1EE196-2CD5-4187-AFFA-FC90C07FBE51}" type="parTrans" cxnId="{7704375B-05EE-4734-9EC0-39BEE25DBBB0}">
      <dgm:prSet/>
      <dgm:spPr/>
      <dgm:t>
        <a:bodyPr/>
        <a:lstStyle/>
        <a:p>
          <a:endParaRPr lang="en-US"/>
        </a:p>
      </dgm:t>
    </dgm:pt>
    <dgm:pt modelId="{E06EF886-C33C-4DA0-AB8E-CE4AD9D64296}" type="sibTrans" cxnId="{7704375B-05EE-4734-9EC0-39BEE25DBBB0}">
      <dgm:prSet/>
      <dgm:spPr/>
      <dgm:t>
        <a:bodyPr/>
        <a:lstStyle/>
        <a:p>
          <a:endParaRPr lang="en-US"/>
        </a:p>
      </dgm:t>
    </dgm:pt>
    <dgm:pt modelId="{74CC8444-9EE8-4321-A4B1-6ECBA468D792}">
      <dgm:prSet/>
      <dgm:spPr/>
      <dgm:t>
        <a:bodyPr/>
        <a:lstStyle/>
        <a:p>
          <a:r>
            <a:rPr lang="en-US" b="1" dirty="0">
              <a:solidFill>
                <a:schemeClr val="bg1"/>
              </a:solidFill>
            </a:rPr>
            <a:t>Overall Schedule</a:t>
          </a:r>
          <a:endParaRPr lang="en-US" dirty="0">
            <a:solidFill>
              <a:schemeClr val="bg1"/>
            </a:solidFill>
          </a:endParaRPr>
        </a:p>
      </dgm:t>
    </dgm:pt>
    <dgm:pt modelId="{17B7A29D-E714-4A42-B708-834036FDBD85}" type="parTrans" cxnId="{1E708D23-9691-4B55-8B39-38331BBD0911}">
      <dgm:prSet/>
      <dgm:spPr/>
      <dgm:t>
        <a:bodyPr/>
        <a:lstStyle/>
        <a:p>
          <a:endParaRPr lang="en-US"/>
        </a:p>
      </dgm:t>
    </dgm:pt>
    <dgm:pt modelId="{ED5D180F-885F-4D5F-8A49-475284DF610F}" type="sibTrans" cxnId="{1E708D23-9691-4B55-8B39-38331BBD0911}">
      <dgm:prSet/>
      <dgm:spPr/>
      <dgm:t>
        <a:bodyPr/>
        <a:lstStyle/>
        <a:p>
          <a:endParaRPr lang="en-US"/>
        </a:p>
      </dgm:t>
    </dgm:pt>
    <dgm:pt modelId="{1D3A689F-B086-4C86-B437-BDFC0F5B0D28}">
      <dgm:prSet/>
      <dgm:spPr/>
      <dgm:t>
        <a:bodyPr/>
        <a:lstStyle/>
        <a:p>
          <a:r>
            <a:rPr lang="en-US" b="1" dirty="0">
              <a:solidFill>
                <a:schemeClr val="bg1"/>
              </a:solidFill>
            </a:rPr>
            <a:t>Financial Projections</a:t>
          </a:r>
          <a:endParaRPr lang="en-US" dirty="0">
            <a:solidFill>
              <a:schemeClr val="bg1"/>
            </a:solidFill>
          </a:endParaRPr>
        </a:p>
      </dgm:t>
    </dgm:pt>
    <dgm:pt modelId="{43B3FD7B-415C-430C-8ED8-D3707766094A}" type="parTrans" cxnId="{378B756F-34A7-4DA2-A133-2590B3AA8006}">
      <dgm:prSet/>
      <dgm:spPr/>
      <dgm:t>
        <a:bodyPr/>
        <a:lstStyle/>
        <a:p>
          <a:endParaRPr lang="en-US"/>
        </a:p>
      </dgm:t>
    </dgm:pt>
    <dgm:pt modelId="{7070C734-3AEB-480F-9F37-DA3C2A65EFE2}" type="sibTrans" cxnId="{378B756F-34A7-4DA2-A133-2590B3AA8006}">
      <dgm:prSet/>
      <dgm:spPr/>
      <dgm:t>
        <a:bodyPr/>
        <a:lstStyle/>
        <a:p>
          <a:endParaRPr lang="en-US"/>
        </a:p>
      </dgm:t>
    </dgm:pt>
    <dgm:pt modelId="{1556670A-6CD0-498C-8F31-FD773F8DEF60}" type="pres">
      <dgm:prSet presAssocID="{26340744-F753-47E3-A874-90A92B03AE6F}" presName="linear" presStyleCnt="0">
        <dgm:presLayoutVars>
          <dgm:animLvl val="lvl"/>
          <dgm:resizeHandles val="exact"/>
        </dgm:presLayoutVars>
      </dgm:prSet>
      <dgm:spPr/>
    </dgm:pt>
    <dgm:pt modelId="{70FFC705-87EB-422E-83E8-7C03755D1595}" type="pres">
      <dgm:prSet presAssocID="{3CB163E0-6744-46F8-883F-019BDA4F9D98}" presName="parentText" presStyleLbl="node1" presStyleIdx="0" presStyleCnt="10">
        <dgm:presLayoutVars>
          <dgm:chMax val="0"/>
          <dgm:bulletEnabled val="1"/>
        </dgm:presLayoutVars>
      </dgm:prSet>
      <dgm:spPr/>
    </dgm:pt>
    <dgm:pt modelId="{3B98E2D5-4ED5-4A24-9DC4-D28EFD24FB31}" type="pres">
      <dgm:prSet presAssocID="{DCCA8BA6-E631-4AEC-8D76-CEBDAFDF4B19}" presName="spacer" presStyleCnt="0"/>
      <dgm:spPr/>
    </dgm:pt>
    <dgm:pt modelId="{15FC6F1F-AB68-42D8-8764-A73AD8098D21}" type="pres">
      <dgm:prSet presAssocID="{06FA0C66-450B-4D06-9222-295FBB5F03DF}" presName="parentText" presStyleLbl="node1" presStyleIdx="1" presStyleCnt="10">
        <dgm:presLayoutVars>
          <dgm:chMax val="0"/>
          <dgm:bulletEnabled val="1"/>
        </dgm:presLayoutVars>
      </dgm:prSet>
      <dgm:spPr/>
    </dgm:pt>
    <dgm:pt modelId="{D4D0A26E-BEBC-4C0A-9358-625049BC2D21}" type="pres">
      <dgm:prSet presAssocID="{AB1E706A-12C7-477C-AF14-7F1440B5AB2A}" presName="spacer" presStyleCnt="0"/>
      <dgm:spPr/>
    </dgm:pt>
    <dgm:pt modelId="{F1885E32-B6BE-4270-89E6-C48A939B362A}" type="pres">
      <dgm:prSet presAssocID="{33E0901A-8740-461A-82D0-8FDF7CB1660C}" presName="parentText" presStyleLbl="node1" presStyleIdx="2" presStyleCnt="10">
        <dgm:presLayoutVars>
          <dgm:chMax val="0"/>
          <dgm:bulletEnabled val="1"/>
        </dgm:presLayoutVars>
      </dgm:prSet>
      <dgm:spPr/>
    </dgm:pt>
    <dgm:pt modelId="{3A718D72-0189-472F-BF5B-C8F0DC0E63BD}" type="pres">
      <dgm:prSet presAssocID="{E04A6D84-11DF-48C0-A91C-3F7534834EC7}" presName="spacer" presStyleCnt="0"/>
      <dgm:spPr/>
    </dgm:pt>
    <dgm:pt modelId="{4D68700D-C1E1-4EBD-ABC4-8234D66BD5EF}" type="pres">
      <dgm:prSet presAssocID="{7AE9417E-26C0-4E66-8FFD-354AA9D3312C}" presName="parentText" presStyleLbl="node1" presStyleIdx="3" presStyleCnt="10">
        <dgm:presLayoutVars>
          <dgm:chMax val="0"/>
          <dgm:bulletEnabled val="1"/>
        </dgm:presLayoutVars>
      </dgm:prSet>
      <dgm:spPr/>
    </dgm:pt>
    <dgm:pt modelId="{05F1C1D6-ECC3-42C6-9E01-19EEA0CA1F03}" type="pres">
      <dgm:prSet presAssocID="{D2D386C0-24E3-4469-AC2C-6BF1B93EADA3}" presName="spacer" presStyleCnt="0"/>
      <dgm:spPr/>
    </dgm:pt>
    <dgm:pt modelId="{AF56A1AE-D35A-417C-82ED-0A8B24FD38BF}" type="pres">
      <dgm:prSet presAssocID="{9CAF8868-9F2D-486B-B401-6AC07987416A}" presName="parentText" presStyleLbl="node1" presStyleIdx="4" presStyleCnt="10">
        <dgm:presLayoutVars>
          <dgm:chMax val="0"/>
          <dgm:bulletEnabled val="1"/>
        </dgm:presLayoutVars>
      </dgm:prSet>
      <dgm:spPr/>
    </dgm:pt>
    <dgm:pt modelId="{88C58F95-1F97-48E3-AED1-F94285B42FC2}" type="pres">
      <dgm:prSet presAssocID="{D95B9C08-6AAC-4AD3-B5AC-3917D346EE9F}" presName="spacer" presStyleCnt="0"/>
      <dgm:spPr/>
    </dgm:pt>
    <dgm:pt modelId="{2EA218ED-8B51-436C-ACC1-70849FEB348F}" type="pres">
      <dgm:prSet presAssocID="{B4FD047E-8D82-4E9C-B9E8-B92716469D7A}" presName="parentText" presStyleLbl="node1" presStyleIdx="5" presStyleCnt="10">
        <dgm:presLayoutVars>
          <dgm:chMax val="0"/>
          <dgm:bulletEnabled val="1"/>
        </dgm:presLayoutVars>
      </dgm:prSet>
      <dgm:spPr/>
    </dgm:pt>
    <dgm:pt modelId="{5369149D-E382-4109-98F1-AD95DEEFDCF0}" type="pres">
      <dgm:prSet presAssocID="{1968D737-6D6C-49BE-8B5E-36647F46A82B}" presName="spacer" presStyleCnt="0"/>
      <dgm:spPr/>
    </dgm:pt>
    <dgm:pt modelId="{EA8E6EB7-F806-4469-8C5E-01D54DBB9184}" type="pres">
      <dgm:prSet presAssocID="{AEC6B4BD-C752-499B-BB61-29C475F3ECD8}" presName="parentText" presStyleLbl="node1" presStyleIdx="6" presStyleCnt="10">
        <dgm:presLayoutVars>
          <dgm:chMax val="0"/>
          <dgm:bulletEnabled val="1"/>
        </dgm:presLayoutVars>
      </dgm:prSet>
      <dgm:spPr/>
    </dgm:pt>
    <dgm:pt modelId="{1E0D1B58-1123-48D9-9E02-5CECECC389E7}" type="pres">
      <dgm:prSet presAssocID="{9DB39B04-9D82-4F8F-8547-6B3C6541F36D}" presName="spacer" presStyleCnt="0"/>
      <dgm:spPr/>
    </dgm:pt>
    <dgm:pt modelId="{657A02BC-A187-454A-AC61-C4CE97279506}" type="pres">
      <dgm:prSet presAssocID="{69C8FDB8-692B-412A-A2B4-AD367CE23CFE}" presName="parentText" presStyleLbl="node1" presStyleIdx="7" presStyleCnt="10">
        <dgm:presLayoutVars>
          <dgm:chMax val="0"/>
          <dgm:bulletEnabled val="1"/>
        </dgm:presLayoutVars>
      </dgm:prSet>
      <dgm:spPr/>
    </dgm:pt>
    <dgm:pt modelId="{272C9737-E949-4A7D-A8AC-042B8117F95C}" type="pres">
      <dgm:prSet presAssocID="{E06EF886-C33C-4DA0-AB8E-CE4AD9D64296}" presName="spacer" presStyleCnt="0"/>
      <dgm:spPr/>
    </dgm:pt>
    <dgm:pt modelId="{E3E46F7E-6EFD-443F-BF22-975333EF9F15}" type="pres">
      <dgm:prSet presAssocID="{74CC8444-9EE8-4321-A4B1-6ECBA468D792}" presName="parentText" presStyleLbl="node1" presStyleIdx="8" presStyleCnt="10">
        <dgm:presLayoutVars>
          <dgm:chMax val="0"/>
          <dgm:bulletEnabled val="1"/>
        </dgm:presLayoutVars>
      </dgm:prSet>
      <dgm:spPr/>
    </dgm:pt>
    <dgm:pt modelId="{62C6EB32-482D-41D0-B170-7FF5344E020E}" type="pres">
      <dgm:prSet presAssocID="{ED5D180F-885F-4D5F-8A49-475284DF610F}" presName="spacer" presStyleCnt="0"/>
      <dgm:spPr/>
    </dgm:pt>
    <dgm:pt modelId="{AFF7E22F-3C84-4928-BD56-C880A334544C}" type="pres">
      <dgm:prSet presAssocID="{1D3A689F-B086-4C86-B437-BDFC0F5B0D28}" presName="parentText" presStyleLbl="node1" presStyleIdx="9" presStyleCnt="10">
        <dgm:presLayoutVars>
          <dgm:chMax val="0"/>
          <dgm:bulletEnabled val="1"/>
        </dgm:presLayoutVars>
      </dgm:prSet>
      <dgm:spPr/>
    </dgm:pt>
  </dgm:ptLst>
  <dgm:cxnLst>
    <dgm:cxn modelId="{09D26200-A58D-4420-830C-FE2C7446A61B}" type="presOf" srcId="{AEC6B4BD-C752-499B-BB61-29C475F3ECD8}" destId="{EA8E6EB7-F806-4469-8C5E-01D54DBB9184}" srcOrd="0" destOrd="0" presId="urn:microsoft.com/office/officeart/2005/8/layout/vList2"/>
    <dgm:cxn modelId="{3B0D2010-AB24-44DF-A5F6-5BD5299F1A05}" srcId="{26340744-F753-47E3-A874-90A92B03AE6F}" destId="{AEC6B4BD-C752-499B-BB61-29C475F3ECD8}" srcOrd="6" destOrd="0" parTransId="{12CB410E-F253-4548-810C-9F12BF745AC3}" sibTransId="{9DB39B04-9D82-4F8F-8547-6B3C6541F36D}"/>
    <dgm:cxn modelId="{1E708D23-9691-4B55-8B39-38331BBD0911}" srcId="{26340744-F753-47E3-A874-90A92B03AE6F}" destId="{74CC8444-9EE8-4321-A4B1-6ECBA468D792}" srcOrd="8" destOrd="0" parTransId="{17B7A29D-E714-4A42-B708-834036FDBD85}" sibTransId="{ED5D180F-885F-4D5F-8A49-475284DF610F}"/>
    <dgm:cxn modelId="{E7B5F12C-C10A-452D-B5E6-902B93DDAB2A}" type="presOf" srcId="{74CC8444-9EE8-4321-A4B1-6ECBA468D792}" destId="{E3E46F7E-6EFD-443F-BF22-975333EF9F15}" srcOrd="0" destOrd="0" presId="urn:microsoft.com/office/officeart/2005/8/layout/vList2"/>
    <dgm:cxn modelId="{6ACC7E3B-9D6E-4959-8A11-2CCA2A78EB43}" type="presOf" srcId="{7AE9417E-26C0-4E66-8FFD-354AA9D3312C}" destId="{4D68700D-C1E1-4EBD-ABC4-8234D66BD5EF}" srcOrd="0" destOrd="0" presId="urn:microsoft.com/office/officeart/2005/8/layout/vList2"/>
    <dgm:cxn modelId="{09493640-80DC-45AE-8A4C-AD0396024FF1}" srcId="{26340744-F753-47E3-A874-90A92B03AE6F}" destId="{B4FD047E-8D82-4E9C-B9E8-B92716469D7A}" srcOrd="5" destOrd="0" parTransId="{B4CD8DDD-8175-471D-A532-850CEB594F8B}" sibTransId="{1968D737-6D6C-49BE-8B5E-36647F46A82B}"/>
    <dgm:cxn modelId="{7704375B-05EE-4734-9EC0-39BEE25DBBB0}" srcId="{26340744-F753-47E3-A874-90A92B03AE6F}" destId="{69C8FDB8-692B-412A-A2B4-AD367CE23CFE}" srcOrd="7" destOrd="0" parTransId="{CD1EE196-2CD5-4187-AFFA-FC90C07FBE51}" sibTransId="{E06EF886-C33C-4DA0-AB8E-CE4AD9D64296}"/>
    <dgm:cxn modelId="{8243885B-B894-41CD-A0AE-D744F14965E5}" type="presOf" srcId="{9CAF8868-9F2D-486B-B401-6AC07987416A}" destId="{AF56A1AE-D35A-417C-82ED-0A8B24FD38BF}" srcOrd="0" destOrd="0" presId="urn:microsoft.com/office/officeart/2005/8/layout/vList2"/>
    <dgm:cxn modelId="{2FFF335C-5CC4-48FA-8CC5-27D7E3B95F62}" srcId="{26340744-F753-47E3-A874-90A92B03AE6F}" destId="{33E0901A-8740-461A-82D0-8FDF7CB1660C}" srcOrd="2" destOrd="0" parTransId="{9C5D0478-297A-4809-8FB8-AC5C244B8F07}" sibTransId="{E04A6D84-11DF-48C0-A91C-3F7534834EC7}"/>
    <dgm:cxn modelId="{C7ABDB5C-8759-475B-8E95-31742C2D755C}" srcId="{26340744-F753-47E3-A874-90A92B03AE6F}" destId="{7AE9417E-26C0-4E66-8FFD-354AA9D3312C}" srcOrd="3" destOrd="0" parTransId="{A695C4ED-B04F-4E4D-BA13-DDB53BA342A4}" sibTransId="{D2D386C0-24E3-4469-AC2C-6BF1B93EADA3}"/>
    <dgm:cxn modelId="{92A46348-CCD0-4640-AB12-DC89F25BCD0F}" type="presOf" srcId="{69C8FDB8-692B-412A-A2B4-AD367CE23CFE}" destId="{657A02BC-A187-454A-AC61-C4CE97279506}" srcOrd="0" destOrd="0" presId="urn:microsoft.com/office/officeart/2005/8/layout/vList2"/>
    <dgm:cxn modelId="{D5B4396B-8DD8-4F05-A88F-88081CC5E235}" type="presOf" srcId="{3CB163E0-6744-46F8-883F-019BDA4F9D98}" destId="{70FFC705-87EB-422E-83E8-7C03755D1595}" srcOrd="0" destOrd="0" presId="urn:microsoft.com/office/officeart/2005/8/layout/vList2"/>
    <dgm:cxn modelId="{378B756F-34A7-4DA2-A133-2590B3AA8006}" srcId="{26340744-F753-47E3-A874-90A92B03AE6F}" destId="{1D3A689F-B086-4C86-B437-BDFC0F5B0D28}" srcOrd="9" destOrd="0" parTransId="{43B3FD7B-415C-430C-8ED8-D3707766094A}" sibTransId="{7070C734-3AEB-480F-9F37-DA3C2A65EFE2}"/>
    <dgm:cxn modelId="{6590A559-095E-4F68-911A-A753FB545021}" srcId="{26340744-F753-47E3-A874-90A92B03AE6F}" destId="{9CAF8868-9F2D-486B-B401-6AC07987416A}" srcOrd="4" destOrd="0" parTransId="{B01FB08F-81B5-48CC-A8DA-05E7D12217C2}" sibTransId="{D95B9C08-6AAC-4AD3-B5AC-3917D346EE9F}"/>
    <dgm:cxn modelId="{8E4B697F-9934-4529-9F45-17C676E3906B}" srcId="{26340744-F753-47E3-A874-90A92B03AE6F}" destId="{3CB163E0-6744-46F8-883F-019BDA4F9D98}" srcOrd="0" destOrd="0" parTransId="{09D1E0AF-98B7-4ABD-B7EC-408285A896A5}" sibTransId="{DCCA8BA6-E631-4AEC-8D76-CEBDAFDF4B19}"/>
    <dgm:cxn modelId="{3054F3D2-604B-4466-B7DA-B03C74F8E577}" srcId="{26340744-F753-47E3-A874-90A92B03AE6F}" destId="{06FA0C66-450B-4D06-9222-295FBB5F03DF}" srcOrd="1" destOrd="0" parTransId="{5103EEB8-7FA7-454B-A4DE-FFB52B54AFE5}" sibTransId="{AB1E706A-12C7-477C-AF14-7F1440B5AB2A}"/>
    <dgm:cxn modelId="{14C612E5-01C6-4805-9AAB-65E516EF34A3}" type="presOf" srcId="{06FA0C66-450B-4D06-9222-295FBB5F03DF}" destId="{15FC6F1F-AB68-42D8-8764-A73AD8098D21}" srcOrd="0" destOrd="0" presId="urn:microsoft.com/office/officeart/2005/8/layout/vList2"/>
    <dgm:cxn modelId="{455187EB-19B2-4E73-B558-ADB73168C863}" type="presOf" srcId="{26340744-F753-47E3-A874-90A92B03AE6F}" destId="{1556670A-6CD0-498C-8F31-FD773F8DEF60}" srcOrd="0" destOrd="0" presId="urn:microsoft.com/office/officeart/2005/8/layout/vList2"/>
    <dgm:cxn modelId="{8FD72DF2-3617-491A-B279-14618CCEBAEA}" type="presOf" srcId="{B4FD047E-8D82-4E9C-B9E8-B92716469D7A}" destId="{2EA218ED-8B51-436C-ACC1-70849FEB348F}" srcOrd="0" destOrd="0" presId="urn:microsoft.com/office/officeart/2005/8/layout/vList2"/>
    <dgm:cxn modelId="{42E0D2F6-57BC-46CF-B0C2-F6673859FFA0}" type="presOf" srcId="{1D3A689F-B086-4C86-B437-BDFC0F5B0D28}" destId="{AFF7E22F-3C84-4928-BD56-C880A334544C}" srcOrd="0" destOrd="0" presId="urn:microsoft.com/office/officeart/2005/8/layout/vList2"/>
    <dgm:cxn modelId="{1DFB20F8-2D78-4D1F-972E-18266D91504D}" type="presOf" srcId="{33E0901A-8740-461A-82D0-8FDF7CB1660C}" destId="{F1885E32-B6BE-4270-89E6-C48A939B362A}" srcOrd="0" destOrd="0" presId="urn:microsoft.com/office/officeart/2005/8/layout/vList2"/>
    <dgm:cxn modelId="{31DBAC9A-5961-4286-9B75-74EBA37E9F8C}" type="presParOf" srcId="{1556670A-6CD0-498C-8F31-FD773F8DEF60}" destId="{70FFC705-87EB-422E-83E8-7C03755D1595}" srcOrd="0" destOrd="0" presId="urn:microsoft.com/office/officeart/2005/8/layout/vList2"/>
    <dgm:cxn modelId="{4196D4E7-175C-4432-A7EB-8E16D30C0390}" type="presParOf" srcId="{1556670A-6CD0-498C-8F31-FD773F8DEF60}" destId="{3B98E2D5-4ED5-4A24-9DC4-D28EFD24FB31}" srcOrd="1" destOrd="0" presId="urn:microsoft.com/office/officeart/2005/8/layout/vList2"/>
    <dgm:cxn modelId="{2C2E3A27-8B56-4506-98F8-8111AD1AC3AD}" type="presParOf" srcId="{1556670A-6CD0-498C-8F31-FD773F8DEF60}" destId="{15FC6F1F-AB68-42D8-8764-A73AD8098D21}" srcOrd="2" destOrd="0" presId="urn:microsoft.com/office/officeart/2005/8/layout/vList2"/>
    <dgm:cxn modelId="{4BBC9A9A-038F-4741-89DA-BC666E2A3A3B}" type="presParOf" srcId="{1556670A-6CD0-498C-8F31-FD773F8DEF60}" destId="{D4D0A26E-BEBC-4C0A-9358-625049BC2D21}" srcOrd="3" destOrd="0" presId="urn:microsoft.com/office/officeart/2005/8/layout/vList2"/>
    <dgm:cxn modelId="{5AE43967-D96B-41AC-8903-82452500015F}" type="presParOf" srcId="{1556670A-6CD0-498C-8F31-FD773F8DEF60}" destId="{F1885E32-B6BE-4270-89E6-C48A939B362A}" srcOrd="4" destOrd="0" presId="urn:microsoft.com/office/officeart/2005/8/layout/vList2"/>
    <dgm:cxn modelId="{3173D416-C8E0-4D08-B4D8-66F92D7602BD}" type="presParOf" srcId="{1556670A-6CD0-498C-8F31-FD773F8DEF60}" destId="{3A718D72-0189-472F-BF5B-C8F0DC0E63BD}" srcOrd="5" destOrd="0" presId="urn:microsoft.com/office/officeart/2005/8/layout/vList2"/>
    <dgm:cxn modelId="{6BFD797A-D04E-406F-8CFB-FAF76C95C56B}" type="presParOf" srcId="{1556670A-6CD0-498C-8F31-FD773F8DEF60}" destId="{4D68700D-C1E1-4EBD-ABC4-8234D66BD5EF}" srcOrd="6" destOrd="0" presId="urn:microsoft.com/office/officeart/2005/8/layout/vList2"/>
    <dgm:cxn modelId="{04EE5136-4430-4455-A38F-C829D8442CBC}" type="presParOf" srcId="{1556670A-6CD0-498C-8F31-FD773F8DEF60}" destId="{05F1C1D6-ECC3-42C6-9E01-19EEA0CA1F03}" srcOrd="7" destOrd="0" presId="urn:microsoft.com/office/officeart/2005/8/layout/vList2"/>
    <dgm:cxn modelId="{18CC0746-3E29-450A-8B88-AD9253B1D286}" type="presParOf" srcId="{1556670A-6CD0-498C-8F31-FD773F8DEF60}" destId="{AF56A1AE-D35A-417C-82ED-0A8B24FD38BF}" srcOrd="8" destOrd="0" presId="urn:microsoft.com/office/officeart/2005/8/layout/vList2"/>
    <dgm:cxn modelId="{6E8D20A6-714F-41E6-B277-79483FB59B74}" type="presParOf" srcId="{1556670A-6CD0-498C-8F31-FD773F8DEF60}" destId="{88C58F95-1F97-48E3-AED1-F94285B42FC2}" srcOrd="9" destOrd="0" presId="urn:microsoft.com/office/officeart/2005/8/layout/vList2"/>
    <dgm:cxn modelId="{1B6B8EF9-1658-45F6-82BE-5C2B0305FE9D}" type="presParOf" srcId="{1556670A-6CD0-498C-8F31-FD773F8DEF60}" destId="{2EA218ED-8B51-436C-ACC1-70849FEB348F}" srcOrd="10" destOrd="0" presId="urn:microsoft.com/office/officeart/2005/8/layout/vList2"/>
    <dgm:cxn modelId="{3411370A-CDEE-4483-8847-6598A2230A6F}" type="presParOf" srcId="{1556670A-6CD0-498C-8F31-FD773F8DEF60}" destId="{5369149D-E382-4109-98F1-AD95DEEFDCF0}" srcOrd="11" destOrd="0" presId="urn:microsoft.com/office/officeart/2005/8/layout/vList2"/>
    <dgm:cxn modelId="{40236FEC-22D8-4024-9468-FF549E8E9A92}" type="presParOf" srcId="{1556670A-6CD0-498C-8F31-FD773F8DEF60}" destId="{EA8E6EB7-F806-4469-8C5E-01D54DBB9184}" srcOrd="12" destOrd="0" presId="urn:microsoft.com/office/officeart/2005/8/layout/vList2"/>
    <dgm:cxn modelId="{E2793CF0-DB80-4B1C-B8CF-394FDC389A1E}" type="presParOf" srcId="{1556670A-6CD0-498C-8F31-FD773F8DEF60}" destId="{1E0D1B58-1123-48D9-9E02-5CECECC389E7}" srcOrd="13" destOrd="0" presId="urn:microsoft.com/office/officeart/2005/8/layout/vList2"/>
    <dgm:cxn modelId="{4FE07E9B-AAFE-4FD9-BD12-3E1E6738365E}" type="presParOf" srcId="{1556670A-6CD0-498C-8F31-FD773F8DEF60}" destId="{657A02BC-A187-454A-AC61-C4CE97279506}" srcOrd="14" destOrd="0" presId="urn:microsoft.com/office/officeart/2005/8/layout/vList2"/>
    <dgm:cxn modelId="{1D582659-3E49-4B7E-B488-F94B2A2065F8}" type="presParOf" srcId="{1556670A-6CD0-498C-8F31-FD773F8DEF60}" destId="{272C9737-E949-4A7D-A8AC-042B8117F95C}" srcOrd="15" destOrd="0" presId="urn:microsoft.com/office/officeart/2005/8/layout/vList2"/>
    <dgm:cxn modelId="{98998833-7E2B-4965-AEBE-E7FBE2A6264D}" type="presParOf" srcId="{1556670A-6CD0-498C-8F31-FD773F8DEF60}" destId="{E3E46F7E-6EFD-443F-BF22-975333EF9F15}" srcOrd="16" destOrd="0" presId="urn:microsoft.com/office/officeart/2005/8/layout/vList2"/>
    <dgm:cxn modelId="{1FAC9C12-2F07-47D3-99F7-0E794B981BF1}" type="presParOf" srcId="{1556670A-6CD0-498C-8F31-FD773F8DEF60}" destId="{62C6EB32-482D-41D0-B170-7FF5344E020E}" srcOrd="17" destOrd="0" presId="urn:microsoft.com/office/officeart/2005/8/layout/vList2"/>
    <dgm:cxn modelId="{80B38CA0-2E17-47D2-B5E3-AB35FBC61EDC}" type="presParOf" srcId="{1556670A-6CD0-498C-8F31-FD773F8DEF60}" destId="{AFF7E22F-3C84-4928-BD56-C880A334544C}" srcOrd="1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EA3F1-E018-4518-932C-B7B369CE32AB}">
      <dsp:nvSpPr>
        <dsp:cNvPr id="0" name=""/>
        <dsp:cNvSpPr/>
      </dsp:nvSpPr>
      <dsp:spPr>
        <a:xfrm>
          <a:off x="2515652" y="2025"/>
          <a:ext cx="2830109" cy="885778"/>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100000"/>
            </a:lnSpc>
            <a:spcBef>
              <a:spcPct val="0"/>
            </a:spcBef>
            <a:spcAft>
              <a:spcPct val="35000"/>
            </a:spcAft>
            <a:buNone/>
          </a:pPr>
          <a:r>
            <a:rPr lang="en-US" sz="2200" kern="1200"/>
            <a:t>Attract Financing</a:t>
          </a:r>
        </a:p>
      </dsp:txBody>
      <dsp:txXfrm>
        <a:off x="2558892" y="45265"/>
        <a:ext cx="2743629" cy="799298"/>
      </dsp:txXfrm>
    </dsp:sp>
    <dsp:sp modelId="{ED9AB6D5-44BC-4B79-8094-50B74F657548}">
      <dsp:nvSpPr>
        <dsp:cNvPr id="0" name=""/>
        <dsp:cNvSpPr/>
      </dsp:nvSpPr>
      <dsp:spPr>
        <a:xfrm>
          <a:off x="2515652" y="932093"/>
          <a:ext cx="2830109" cy="885778"/>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100000"/>
            </a:lnSpc>
            <a:spcBef>
              <a:spcPct val="0"/>
            </a:spcBef>
            <a:spcAft>
              <a:spcPct val="35000"/>
            </a:spcAft>
            <a:buNone/>
          </a:pPr>
          <a:r>
            <a:rPr lang="en-US" sz="2200" kern="1200"/>
            <a:t>Future Vision</a:t>
          </a:r>
        </a:p>
      </dsp:txBody>
      <dsp:txXfrm>
        <a:off x="2558892" y="975333"/>
        <a:ext cx="2743629" cy="799298"/>
      </dsp:txXfrm>
    </dsp:sp>
    <dsp:sp modelId="{8BF8D6F6-5011-404D-9586-E1BFEA06F0F5}">
      <dsp:nvSpPr>
        <dsp:cNvPr id="0" name=""/>
        <dsp:cNvSpPr/>
      </dsp:nvSpPr>
      <dsp:spPr>
        <a:xfrm>
          <a:off x="2515652" y="1862160"/>
          <a:ext cx="2830109" cy="885778"/>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100000"/>
            </a:lnSpc>
            <a:spcBef>
              <a:spcPct val="0"/>
            </a:spcBef>
            <a:spcAft>
              <a:spcPct val="35000"/>
            </a:spcAft>
            <a:buNone/>
          </a:pPr>
          <a:r>
            <a:rPr lang="en-US" sz="2200" kern="1200"/>
            <a:t>Attract Team Members</a:t>
          </a:r>
        </a:p>
      </dsp:txBody>
      <dsp:txXfrm>
        <a:off x="2558892" y="1905400"/>
        <a:ext cx="2743629" cy="799298"/>
      </dsp:txXfrm>
    </dsp:sp>
    <dsp:sp modelId="{C8CF1CC1-503B-4DF3-ACC6-ACF12C8FCC97}">
      <dsp:nvSpPr>
        <dsp:cNvPr id="0" name=""/>
        <dsp:cNvSpPr/>
      </dsp:nvSpPr>
      <dsp:spPr>
        <a:xfrm>
          <a:off x="2515652" y="2792228"/>
          <a:ext cx="2830109" cy="885778"/>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100000"/>
            </a:lnSpc>
            <a:spcBef>
              <a:spcPct val="0"/>
            </a:spcBef>
            <a:spcAft>
              <a:spcPct val="35000"/>
            </a:spcAft>
            <a:buNone/>
          </a:pPr>
          <a:r>
            <a:rPr lang="en-US" sz="2200" kern="1200"/>
            <a:t>Manage Company</a:t>
          </a:r>
        </a:p>
      </dsp:txBody>
      <dsp:txXfrm>
        <a:off x="2558892" y="2835468"/>
        <a:ext cx="2743629" cy="799298"/>
      </dsp:txXfrm>
    </dsp:sp>
    <dsp:sp modelId="{910C844C-C67C-4F73-A95C-7A19967A7FB2}">
      <dsp:nvSpPr>
        <dsp:cNvPr id="0" name=""/>
        <dsp:cNvSpPr/>
      </dsp:nvSpPr>
      <dsp:spPr>
        <a:xfrm>
          <a:off x="2515652" y="3722295"/>
          <a:ext cx="2830109" cy="885778"/>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100000"/>
            </a:lnSpc>
            <a:spcBef>
              <a:spcPct val="0"/>
            </a:spcBef>
            <a:spcAft>
              <a:spcPct val="35000"/>
            </a:spcAft>
            <a:buNone/>
          </a:pPr>
          <a:r>
            <a:rPr lang="en-US" sz="2200" kern="1200"/>
            <a:t>Clarify Direction</a:t>
          </a:r>
        </a:p>
      </dsp:txBody>
      <dsp:txXfrm>
        <a:off x="2558892" y="3765535"/>
        <a:ext cx="2743629" cy="7992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FFC705-87EB-422E-83E8-7C03755D1595}">
      <dsp:nvSpPr>
        <dsp:cNvPr id="0" name=""/>
        <dsp:cNvSpPr/>
      </dsp:nvSpPr>
      <dsp:spPr>
        <a:xfrm>
          <a:off x="0" y="10229"/>
          <a:ext cx="5432426" cy="52767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chemeClr val="bg1"/>
              </a:solidFill>
            </a:rPr>
            <a:t>Executive Summary</a:t>
          </a:r>
          <a:endParaRPr lang="en-US" sz="2200" kern="1200" dirty="0">
            <a:solidFill>
              <a:schemeClr val="bg1"/>
            </a:solidFill>
          </a:endParaRPr>
        </a:p>
      </dsp:txBody>
      <dsp:txXfrm>
        <a:off x="25759" y="35988"/>
        <a:ext cx="5380908" cy="476152"/>
      </dsp:txXfrm>
    </dsp:sp>
    <dsp:sp modelId="{15FC6F1F-AB68-42D8-8764-A73AD8098D21}">
      <dsp:nvSpPr>
        <dsp:cNvPr id="0" name=""/>
        <dsp:cNvSpPr/>
      </dsp:nvSpPr>
      <dsp:spPr>
        <a:xfrm>
          <a:off x="0" y="601259"/>
          <a:ext cx="5432426" cy="527670"/>
        </a:xfrm>
        <a:prstGeom prst="roundRect">
          <a:avLst/>
        </a:prstGeom>
        <a:solidFill>
          <a:schemeClr val="accent5">
            <a:hueOff val="-1103764"/>
            <a:satOff val="4423"/>
            <a:lumOff val="9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chemeClr val="bg1"/>
              </a:solidFill>
            </a:rPr>
            <a:t>Industry Analysis</a:t>
          </a:r>
          <a:endParaRPr lang="en-US" sz="2200" kern="1200" dirty="0">
            <a:solidFill>
              <a:schemeClr val="bg1"/>
            </a:solidFill>
          </a:endParaRPr>
        </a:p>
      </dsp:txBody>
      <dsp:txXfrm>
        <a:off x="25759" y="627018"/>
        <a:ext cx="5380908" cy="476152"/>
      </dsp:txXfrm>
    </dsp:sp>
    <dsp:sp modelId="{F1885E32-B6BE-4270-89E6-C48A939B362A}">
      <dsp:nvSpPr>
        <dsp:cNvPr id="0" name=""/>
        <dsp:cNvSpPr/>
      </dsp:nvSpPr>
      <dsp:spPr>
        <a:xfrm>
          <a:off x="0" y="1192289"/>
          <a:ext cx="5432426" cy="527670"/>
        </a:xfrm>
        <a:prstGeom prst="roundRect">
          <a:avLst/>
        </a:prstGeom>
        <a:solidFill>
          <a:schemeClr val="accent5">
            <a:hueOff val="-2207528"/>
            <a:satOff val="8847"/>
            <a:lumOff val="191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chemeClr val="bg1"/>
              </a:solidFill>
            </a:rPr>
            <a:t>Company Description</a:t>
          </a:r>
          <a:endParaRPr lang="en-US" sz="2200" kern="1200" dirty="0">
            <a:solidFill>
              <a:schemeClr val="bg1"/>
            </a:solidFill>
          </a:endParaRPr>
        </a:p>
      </dsp:txBody>
      <dsp:txXfrm>
        <a:off x="25759" y="1218048"/>
        <a:ext cx="5380908" cy="476152"/>
      </dsp:txXfrm>
    </dsp:sp>
    <dsp:sp modelId="{4D68700D-C1E1-4EBD-ABC4-8234D66BD5EF}">
      <dsp:nvSpPr>
        <dsp:cNvPr id="0" name=""/>
        <dsp:cNvSpPr/>
      </dsp:nvSpPr>
      <dsp:spPr>
        <a:xfrm>
          <a:off x="0" y="1783320"/>
          <a:ext cx="5432426" cy="527670"/>
        </a:xfrm>
        <a:prstGeom prst="roundRect">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chemeClr val="bg1"/>
              </a:solidFill>
            </a:rPr>
            <a:t>Market Analysis</a:t>
          </a:r>
          <a:endParaRPr lang="en-US" sz="2200" kern="1200" dirty="0">
            <a:solidFill>
              <a:schemeClr val="bg1"/>
            </a:solidFill>
          </a:endParaRPr>
        </a:p>
      </dsp:txBody>
      <dsp:txXfrm>
        <a:off x="25759" y="1809079"/>
        <a:ext cx="5380908" cy="476152"/>
      </dsp:txXfrm>
    </dsp:sp>
    <dsp:sp modelId="{AF56A1AE-D35A-417C-82ED-0A8B24FD38BF}">
      <dsp:nvSpPr>
        <dsp:cNvPr id="0" name=""/>
        <dsp:cNvSpPr/>
      </dsp:nvSpPr>
      <dsp:spPr>
        <a:xfrm>
          <a:off x="0" y="2374350"/>
          <a:ext cx="5432426" cy="527670"/>
        </a:xfrm>
        <a:prstGeom prst="roundRect">
          <a:avLst/>
        </a:prstGeom>
        <a:solidFill>
          <a:schemeClr val="accent5">
            <a:hueOff val="-4415056"/>
            <a:satOff val="17694"/>
            <a:lumOff val="38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chemeClr val="bg1"/>
              </a:solidFill>
            </a:rPr>
            <a:t>Economics of the Business</a:t>
          </a:r>
          <a:endParaRPr lang="en-US" sz="2200" kern="1200" dirty="0">
            <a:solidFill>
              <a:schemeClr val="bg1"/>
            </a:solidFill>
          </a:endParaRPr>
        </a:p>
      </dsp:txBody>
      <dsp:txXfrm>
        <a:off x="25759" y="2400109"/>
        <a:ext cx="5380908" cy="476152"/>
      </dsp:txXfrm>
    </dsp:sp>
    <dsp:sp modelId="{2EA218ED-8B51-436C-ACC1-70849FEB348F}">
      <dsp:nvSpPr>
        <dsp:cNvPr id="0" name=""/>
        <dsp:cNvSpPr/>
      </dsp:nvSpPr>
      <dsp:spPr>
        <a:xfrm>
          <a:off x="0" y="2965380"/>
          <a:ext cx="5432426" cy="527670"/>
        </a:xfrm>
        <a:prstGeom prst="roundRect">
          <a:avLst/>
        </a:prstGeom>
        <a:solidFill>
          <a:schemeClr val="accent5">
            <a:hueOff val="-5518820"/>
            <a:satOff val="22117"/>
            <a:lumOff val="479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chemeClr val="bg1"/>
              </a:solidFill>
            </a:rPr>
            <a:t>Marketing Plan</a:t>
          </a:r>
          <a:endParaRPr lang="en-US" sz="2200" kern="1200" dirty="0">
            <a:solidFill>
              <a:schemeClr val="bg1"/>
            </a:solidFill>
          </a:endParaRPr>
        </a:p>
      </dsp:txBody>
      <dsp:txXfrm>
        <a:off x="25759" y="2991139"/>
        <a:ext cx="5380908" cy="476152"/>
      </dsp:txXfrm>
    </dsp:sp>
    <dsp:sp modelId="{EA8E6EB7-F806-4469-8C5E-01D54DBB9184}">
      <dsp:nvSpPr>
        <dsp:cNvPr id="0" name=""/>
        <dsp:cNvSpPr/>
      </dsp:nvSpPr>
      <dsp:spPr>
        <a:xfrm>
          <a:off x="0" y="3556410"/>
          <a:ext cx="5432426" cy="527670"/>
        </a:xfrm>
        <a:prstGeom prst="roundRect">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chemeClr val="bg1"/>
              </a:solidFill>
            </a:rPr>
            <a:t>Operations Plan</a:t>
          </a:r>
          <a:endParaRPr lang="en-US" sz="2200" kern="1200" dirty="0">
            <a:solidFill>
              <a:schemeClr val="bg1"/>
            </a:solidFill>
          </a:endParaRPr>
        </a:p>
      </dsp:txBody>
      <dsp:txXfrm>
        <a:off x="25759" y="3582169"/>
        <a:ext cx="5380908" cy="476152"/>
      </dsp:txXfrm>
    </dsp:sp>
    <dsp:sp modelId="{657A02BC-A187-454A-AC61-C4CE97279506}">
      <dsp:nvSpPr>
        <dsp:cNvPr id="0" name=""/>
        <dsp:cNvSpPr/>
      </dsp:nvSpPr>
      <dsp:spPr>
        <a:xfrm>
          <a:off x="0" y="4147440"/>
          <a:ext cx="5432426" cy="527670"/>
        </a:xfrm>
        <a:prstGeom prst="roundRect">
          <a:avLst/>
        </a:prstGeom>
        <a:solidFill>
          <a:schemeClr val="accent5">
            <a:hueOff val="-7726349"/>
            <a:satOff val="30964"/>
            <a:lumOff val="671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chemeClr val="bg1"/>
              </a:solidFill>
            </a:rPr>
            <a:t>Management Team and Company Structure</a:t>
          </a:r>
          <a:endParaRPr lang="en-US" sz="2200" kern="1200" dirty="0">
            <a:solidFill>
              <a:schemeClr val="bg1"/>
            </a:solidFill>
          </a:endParaRPr>
        </a:p>
      </dsp:txBody>
      <dsp:txXfrm>
        <a:off x="25759" y="4173199"/>
        <a:ext cx="5380908" cy="476152"/>
      </dsp:txXfrm>
    </dsp:sp>
    <dsp:sp modelId="{E3E46F7E-6EFD-443F-BF22-975333EF9F15}">
      <dsp:nvSpPr>
        <dsp:cNvPr id="0" name=""/>
        <dsp:cNvSpPr/>
      </dsp:nvSpPr>
      <dsp:spPr>
        <a:xfrm>
          <a:off x="0" y="4738470"/>
          <a:ext cx="5432426" cy="527670"/>
        </a:xfrm>
        <a:prstGeom prst="roundRect">
          <a:avLst/>
        </a:prstGeom>
        <a:solidFill>
          <a:schemeClr val="accent5">
            <a:hueOff val="-8830112"/>
            <a:satOff val="35388"/>
            <a:lumOff val="766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chemeClr val="bg1"/>
              </a:solidFill>
            </a:rPr>
            <a:t>Overall Schedule</a:t>
          </a:r>
          <a:endParaRPr lang="en-US" sz="2200" kern="1200" dirty="0">
            <a:solidFill>
              <a:schemeClr val="bg1"/>
            </a:solidFill>
          </a:endParaRPr>
        </a:p>
      </dsp:txBody>
      <dsp:txXfrm>
        <a:off x="25759" y="4764229"/>
        <a:ext cx="5380908" cy="476152"/>
      </dsp:txXfrm>
    </dsp:sp>
    <dsp:sp modelId="{AFF7E22F-3C84-4928-BD56-C880A334544C}">
      <dsp:nvSpPr>
        <dsp:cNvPr id="0" name=""/>
        <dsp:cNvSpPr/>
      </dsp:nvSpPr>
      <dsp:spPr>
        <a:xfrm>
          <a:off x="0" y="5329500"/>
          <a:ext cx="5432426" cy="52767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chemeClr val="bg1"/>
              </a:solidFill>
            </a:rPr>
            <a:t>Financial Projections</a:t>
          </a:r>
          <a:endParaRPr lang="en-US" sz="2200" kern="1200" dirty="0">
            <a:solidFill>
              <a:schemeClr val="bg1"/>
            </a:solidFill>
          </a:endParaRPr>
        </a:p>
      </dsp:txBody>
      <dsp:txXfrm>
        <a:off x="25759" y="5355259"/>
        <a:ext cx="5380908" cy="47615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9E2696-0F63-4036-8EB1-C1C5CD76B376}" type="datetimeFigureOut">
              <a:rPr lang="en-US" smtClean="0"/>
              <a:pPr/>
              <a:t>3/10/2026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976872-5BC3-4445-98A9-B6AAA71962F7}" type="slidenum">
              <a:rPr lang="en-US" smtClean="0"/>
              <a:pPr/>
              <a:t>‹#›</a:t>
            </a:fld>
            <a:endParaRPr lang="en-US"/>
          </a:p>
        </p:txBody>
      </p:sp>
    </p:spTree>
    <p:extLst>
      <p:ext uri="{BB962C8B-B14F-4D97-AF65-F5344CB8AC3E}">
        <p14:creationId xmlns:p14="http://schemas.microsoft.com/office/powerpoint/2010/main" val="1140520545"/>
      </p:ext>
    </p:extLst>
  </p:cSld>
  <p:clrMap bg1="lt1" tx1="dk1" bg2="lt2" tx2="dk2" accent1="accent1" accent2="accent2" accent3="accent3" accent4="accent4" accent5="accent5" accent6="accent6" hlink="hlink" folHlink="folHlink"/>
  <p:notesStyle>
    <a:lvl1pPr marL="0" algn="l" defTabSz="914318" rtl="0" eaLnBrk="1" latinLnBrk="0" hangingPunct="1">
      <a:defRPr sz="1200" kern="1200">
        <a:solidFill>
          <a:schemeClr val="tx1"/>
        </a:solidFill>
        <a:latin typeface="+mn-lt"/>
        <a:ea typeface="+mn-ea"/>
        <a:cs typeface="+mn-cs"/>
      </a:defRPr>
    </a:lvl1pPr>
    <a:lvl2pPr marL="457159" algn="l" defTabSz="914318" rtl="0" eaLnBrk="1" latinLnBrk="0" hangingPunct="1">
      <a:defRPr sz="1200" kern="1200">
        <a:solidFill>
          <a:schemeClr val="tx1"/>
        </a:solidFill>
        <a:latin typeface="+mn-lt"/>
        <a:ea typeface="+mn-ea"/>
        <a:cs typeface="+mn-cs"/>
      </a:defRPr>
    </a:lvl2pPr>
    <a:lvl3pPr marL="914318" algn="l" defTabSz="914318" rtl="0" eaLnBrk="1" latinLnBrk="0" hangingPunct="1">
      <a:defRPr sz="1200" kern="1200">
        <a:solidFill>
          <a:schemeClr val="tx1"/>
        </a:solidFill>
        <a:latin typeface="+mn-lt"/>
        <a:ea typeface="+mn-ea"/>
        <a:cs typeface="+mn-cs"/>
      </a:defRPr>
    </a:lvl3pPr>
    <a:lvl4pPr marL="1371477" algn="l" defTabSz="914318" rtl="0" eaLnBrk="1" latinLnBrk="0" hangingPunct="1">
      <a:defRPr sz="1200" kern="1200">
        <a:solidFill>
          <a:schemeClr val="tx1"/>
        </a:solidFill>
        <a:latin typeface="+mn-lt"/>
        <a:ea typeface="+mn-ea"/>
        <a:cs typeface="+mn-cs"/>
      </a:defRPr>
    </a:lvl4pPr>
    <a:lvl5pPr marL="1828637" algn="l" defTabSz="914318" rtl="0" eaLnBrk="1" latinLnBrk="0" hangingPunct="1">
      <a:defRPr sz="1200" kern="1200">
        <a:solidFill>
          <a:schemeClr val="tx1"/>
        </a:solidFill>
        <a:latin typeface="+mn-lt"/>
        <a:ea typeface="+mn-ea"/>
        <a:cs typeface="+mn-cs"/>
      </a:defRPr>
    </a:lvl5pPr>
    <a:lvl6pPr marL="2285797" algn="l" defTabSz="914318" rtl="0" eaLnBrk="1" latinLnBrk="0" hangingPunct="1">
      <a:defRPr sz="1200" kern="1200">
        <a:solidFill>
          <a:schemeClr val="tx1"/>
        </a:solidFill>
        <a:latin typeface="+mn-lt"/>
        <a:ea typeface="+mn-ea"/>
        <a:cs typeface="+mn-cs"/>
      </a:defRPr>
    </a:lvl6pPr>
    <a:lvl7pPr marL="2742956" algn="l" defTabSz="914318" rtl="0" eaLnBrk="1" latinLnBrk="0" hangingPunct="1">
      <a:defRPr sz="1200" kern="1200">
        <a:solidFill>
          <a:schemeClr val="tx1"/>
        </a:solidFill>
        <a:latin typeface="+mn-lt"/>
        <a:ea typeface="+mn-ea"/>
        <a:cs typeface="+mn-cs"/>
      </a:defRPr>
    </a:lvl7pPr>
    <a:lvl8pPr marL="3200115" algn="l" defTabSz="914318" rtl="0" eaLnBrk="1" latinLnBrk="0" hangingPunct="1">
      <a:defRPr sz="1200" kern="1200">
        <a:solidFill>
          <a:schemeClr val="tx1"/>
        </a:solidFill>
        <a:latin typeface="+mn-lt"/>
        <a:ea typeface="+mn-ea"/>
        <a:cs typeface="+mn-cs"/>
      </a:defRPr>
    </a:lvl8pPr>
    <a:lvl9pPr marL="3657274" algn="l" defTabSz="914318"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873376"/>
            <a:ext cx="7772400" cy="860425"/>
          </a:xfrm>
        </p:spPr>
        <p:txBody>
          <a:bodyPr/>
          <a:lstStyle/>
          <a:p>
            <a:r>
              <a:rPr lang="en-US" dirty="0"/>
              <a:t>CLICK TO EDIT MASTER TITLE STYLE</a:t>
            </a:r>
          </a:p>
        </p:txBody>
      </p:sp>
      <p:sp>
        <p:nvSpPr>
          <p:cNvPr id="6" name="Slide Number Placeholder 5"/>
          <p:cNvSpPr>
            <a:spLocks noGrp="1"/>
          </p:cNvSpPr>
          <p:nvPr>
            <p:ph type="sldNum" sz="quarter" idx="12"/>
          </p:nvPr>
        </p:nvSpPr>
        <p:spPr>
          <a:xfrm>
            <a:off x="8657898" y="6400801"/>
            <a:ext cx="457200" cy="320675"/>
          </a:xfrm>
        </p:spPr>
        <p:txBody>
          <a:bodyPr/>
          <a:lstStyle>
            <a:lvl1pPr>
              <a:defRPr b="1"/>
            </a:lvl1pPr>
          </a:lstStyle>
          <a:p>
            <a:fld id="{5DFFF26C-93C9-49D4-9C20-B4030AEBF89C}" type="slidenum">
              <a:rPr lang="en-US" smtClean="0"/>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a:xfrm>
            <a:off x="228600" y="1066800"/>
            <a:ext cx="8686800" cy="4876799"/>
          </a:xfrm>
          <a:ln>
            <a:solidFill>
              <a:srgbClr val="FFFF00"/>
            </a:solidFill>
          </a:ln>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12"/>
          </p:nvPr>
        </p:nvSpPr>
        <p:spPr/>
        <p:txBody>
          <a:bodyPr/>
          <a:lstStyle>
            <a:lvl1pPr>
              <a:defRPr b="1"/>
            </a:lvl1pPr>
          </a:lstStyle>
          <a:p>
            <a:fld id="{5DFFF26C-93C9-49D4-9C20-B4030AEBF89C}"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066800"/>
            <a:ext cx="4267200" cy="4876800"/>
          </a:xfrm>
          <a:ln>
            <a:solidFill>
              <a:srgbClr val="FFFF00"/>
            </a:solidFill>
          </a:ln>
        </p:spPr>
        <p:txBody>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Date Placeholder 4"/>
          <p:cNvSpPr>
            <a:spLocks noGrp="1"/>
          </p:cNvSpPr>
          <p:nvPr>
            <p:ph type="dt" sz="half" idx="10"/>
          </p:nvPr>
        </p:nvSpPr>
        <p:spPr>
          <a:xfrm>
            <a:off x="457200" y="6356351"/>
            <a:ext cx="2133600" cy="365125"/>
          </a:xfrm>
          <a:prstGeom prst="rect">
            <a:avLst/>
          </a:prstGeom>
        </p:spPr>
        <p:txBody>
          <a:bodyPr lIns="91432" tIns="45716" rIns="91432" bIns="45716"/>
          <a:lstStyle/>
          <a:p>
            <a:endParaRPr lang="en-US"/>
          </a:p>
        </p:txBody>
      </p:sp>
      <p:sp>
        <p:nvSpPr>
          <p:cNvPr id="6" name="Footer Placeholder 5"/>
          <p:cNvSpPr>
            <a:spLocks noGrp="1"/>
          </p:cNvSpPr>
          <p:nvPr>
            <p:ph type="ftr" sz="quarter" idx="11"/>
          </p:nvPr>
        </p:nvSpPr>
        <p:spPr>
          <a:xfrm>
            <a:off x="3124200" y="6248401"/>
            <a:ext cx="2895600" cy="365125"/>
          </a:xfrm>
          <a:prstGeom prst="rect">
            <a:avLst/>
          </a:prstGeom>
        </p:spPr>
        <p:txBody>
          <a:bodyPr lIns="91432" tIns="45716" rIns="91432" bIns="45716"/>
          <a:lstStyle/>
          <a:p>
            <a:endParaRPr lang="en-US"/>
          </a:p>
        </p:txBody>
      </p:sp>
      <p:sp>
        <p:nvSpPr>
          <p:cNvPr id="7" name="Slide Number Placeholder 6"/>
          <p:cNvSpPr>
            <a:spLocks noGrp="1"/>
          </p:cNvSpPr>
          <p:nvPr>
            <p:ph type="sldNum" sz="quarter" idx="12"/>
          </p:nvPr>
        </p:nvSpPr>
        <p:spPr/>
        <p:txBody>
          <a:bodyPr/>
          <a:lstStyle/>
          <a:p>
            <a:fld id="{5DFFF26C-93C9-49D4-9C20-B4030AEBF89C}" type="slidenum">
              <a:rPr lang="en-US" smtClean="0"/>
              <a:pPr/>
              <a:t>‹#›</a:t>
            </a:fld>
            <a:endParaRPr lang="en-US"/>
          </a:p>
        </p:txBody>
      </p:sp>
      <p:sp>
        <p:nvSpPr>
          <p:cNvPr id="8" name="Content Placeholder 2"/>
          <p:cNvSpPr>
            <a:spLocks noGrp="1"/>
          </p:cNvSpPr>
          <p:nvPr>
            <p:ph sz="half" idx="13"/>
          </p:nvPr>
        </p:nvSpPr>
        <p:spPr>
          <a:xfrm>
            <a:off x="4648200" y="1066800"/>
            <a:ext cx="4267200" cy="4876800"/>
          </a:xfrm>
          <a:ln>
            <a:solidFill>
              <a:srgbClr val="FFFF00"/>
            </a:solidFill>
          </a:ln>
        </p:spPr>
        <p:txBody>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066800"/>
            <a:ext cx="5334000" cy="4876800"/>
          </a:xfrm>
          <a:ln>
            <a:solidFill>
              <a:srgbClr val="FFFF00"/>
            </a:solidFill>
          </a:ln>
        </p:spPr>
        <p:txBody>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Slide Number Placeholder 6"/>
          <p:cNvSpPr>
            <a:spLocks noGrp="1"/>
          </p:cNvSpPr>
          <p:nvPr>
            <p:ph type="sldNum" sz="quarter" idx="12"/>
          </p:nvPr>
        </p:nvSpPr>
        <p:spPr/>
        <p:txBody>
          <a:bodyPr/>
          <a:lstStyle/>
          <a:p>
            <a:fld id="{5DFFF26C-93C9-49D4-9C20-B4030AEBF89C}" type="slidenum">
              <a:rPr lang="en-US" smtClean="0"/>
              <a:pPr/>
              <a:t>‹#›</a:t>
            </a:fld>
            <a:endParaRPr lang="en-US"/>
          </a:p>
        </p:txBody>
      </p:sp>
      <p:sp>
        <p:nvSpPr>
          <p:cNvPr id="8" name="Content Placeholder 2"/>
          <p:cNvSpPr>
            <a:spLocks noGrp="1"/>
          </p:cNvSpPr>
          <p:nvPr>
            <p:ph sz="half" idx="13"/>
          </p:nvPr>
        </p:nvSpPr>
        <p:spPr>
          <a:xfrm>
            <a:off x="5715000" y="1066800"/>
            <a:ext cx="3200400" cy="4876800"/>
          </a:xfrm>
          <a:ln>
            <a:solidFill>
              <a:srgbClr val="FFFF00"/>
            </a:solidFill>
          </a:ln>
        </p:spPr>
        <p:txBody>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5" name="Date Placeholder 4"/>
          <p:cNvSpPr>
            <a:spLocks noGrp="1" noChangeArrowheads="1"/>
          </p:cNvSpPr>
          <p:nvPr>
            <p:ph type="dt" sz="half" idx="10"/>
          </p:nvPr>
        </p:nvSpPr>
        <p:spPr>
          <a:xfrm>
            <a:off x="457200" y="6245225"/>
            <a:ext cx="2133600" cy="476250"/>
          </a:xfrm>
          <a:prstGeom prst="rect">
            <a:avLst/>
          </a:prstGeom>
        </p:spPr>
        <p:txBody>
          <a:bodyPr/>
          <a:lstStyle>
            <a:lvl1pPr eaLnBrk="1" hangingPunct="1">
              <a:defRPr/>
            </a:lvl1pPr>
          </a:lstStyle>
          <a:p>
            <a:pPr>
              <a:defRPr/>
            </a:pPr>
            <a:endParaRPr lang="en-US"/>
          </a:p>
        </p:txBody>
      </p:sp>
      <p:sp>
        <p:nvSpPr>
          <p:cNvPr id="7" name="Rectangle 5"/>
          <p:cNvSpPr>
            <a:spLocks noGrp="1" noChangeArrowheads="1"/>
          </p:cNvSpPr>
          <p:nvPr>
            <p:ph type="ftr" sz="quarter" idx="11"/>
          </p:nvPr>
        </p:nvSpPr>
        <p:spPr>
          <a:xfrm>
            <a:off x="3124200" y="6245225"/>
            <a:ext cx="2895600" cy="476250"/>
          </a:xfrm>
          <a:prstGeom prst="rect">
            <a:avLst/>
          </a:prstGeom>
        </p:spPr>
        <p:txBody>
          <a:bodyPr/>
          <a:lstStyle>
            <a:lvl1pPr eaLnBrk="1" hangingPunct="1">
              <a:defRPr/>
            </a:lvl1pPr>
          </a:lstStyle>
          <a:p>
            <a:pPr>
              <a:defRPr/>
            </a:pPr>
            <a:endParaRPr lang="en-US"/>
          </a:p>
        </p:txBody>
      </p:sp>
      <p:sp>
        <p:nvSpPr>
          <p:cNvPr id="8" name="Rectangle 6"/>
          <p:cNvSpPr>
            <a:spLocks noGrp="1" noChangeArrowheads="1"/>
          </p:cNvSpPr>
          <p:nvPr>
            <p:ph type="sldNum" sz="quarter" idx="12"/>
          </p:nvPr>
        </p:nvSpPr>
        <p:spPr/>
        <p:txBody>
          <a:bodyPr/>
          <a:lstStyle>
            <a:lvl1pPr>
              <a:defRPr/>
            </a:lvl1pPr>
          </a:lstStyle>
          <a:p>
            <a:pPr>
              <a:defRPr/>
            </a:pPr>
            <a:fld id="{1BC07364-43B1-4953-8847-A6026C38780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46B94673-4C73-4DD6-BF6D-B4E6209BB6BB}" type="datetimeFigureOut">
              <a:rPr lang="en-US" smtClean="0"/>
              <a:pPr/>
              <a:t>3/10/2026</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55E53-8D5A-4988-9C35-5015956B5E8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6D3B1B-023B-4A22-B386-7A4EFD362CFB}" type="datetimeFigureOut">
              <a:rPr lang="en-US" smtClean="0">
                <a:solidFill>
                  <a:prstClr val="black">
                    <a:tint val="75000"/>
                  </a:prstClr>
                </a:solidFill>
              </a:rPr>
              <a:pPr/>
              <a:t>3/10/2026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C058960-7274-4324-82D2-416B1C47C9D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6D3B1B-023B-4A22-B386-7A4EFD362CFB}" type="datetimeFigureOut">
              <a:rPr lang="en-US" smtClean="0">
                <a:solidFill>
                  <a:prstClr val="black">
                    <a:tint val="75000"/>
                  </a:prstClr>
                </a:solidFill>
              </a:rPr>
              <a:pPr/>
              <a:t>3/10/2026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C058960-7274-4324-82D2-416B1C47C9D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6D3B1B-023B-4A22-B386-7A4EFD362CFB}" type="datetimeFigureOut">
              <a:rPr lang="en-US" smtClean="0">
                <a:solidFill>
                  <a:prstClr val="black">
                    <a:tint val="75000"/>
                  </a:prstClr>
                </a:solidFill>
              </a:rPr>
              <a:pPr/>
              <a:t>3/10/2026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C058960-7274-4324-82D2-416B1C47C9D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6D3B1B-023B-4A22-B386-7A4EFD362CFB}" type="datetimeFigureOut">
              <a:rPr lang="en-US" smtClean="0">
                <a:solidFill>
                  <a:prstClr val="black">
                    <a:tint val="75000"/>
                  </a:prstClr>
                </a:solidFill>
              </a:rPr>
              <a:pPr/>
              <a:t>3/10/2026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C058960-7274-4324-82D2-416B1C47C9D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6D3B1B-023B-4A22-B386-7A4EFD362CFB}" type="datetimeFigureOut">
              <a:rPr lang="en-US" smtClean="0">
                <a:solidFill>
                  <a:prstClr val="black">
                    <a:tint val="75000"/>
                  </a:prstClr>
                </a:solidFill>
              </a:rPr>
              <a:pPr/>
              <a:t>3/10/2026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EC058960-7274-4324-82D2-416B1C47C9D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6D3B1B-023B-4A22-B386-7A4EFD362CFB}" type="datetimeFigureOut">
              <a:rPr lang="en-US" smtClean="0">
                <a:solidFill>
                  <a:prstClr val="black">
                    <a:tint val="75000"/>
                  </a:prstClr>
                </a:solidFill>
              </a:rPr>
              <a:pPr/>
              <a:t>3/10/2026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EC058960-7274-4324-82D2-416B1C47C9D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6D3B1B-023B-4A22-B386-7A4EFD362CFB}" type="datetimeFigureOut">
              <a:rPr lang="en-US" smtClean="0">
                <a:solidFill>
                  <a:prstClr val="black">
                    <a:tint val="75000"/>
                  </a:prstClr>
                </a:solidFill>
              </a:rPr>
              <a:pPr/>
              <a:t>3/10/2026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C058960-7274-4324-82D2-416B1C47C9D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6D3B1B-023B-4A22-B386-7A4EFD362CFB}" type="datetimeFigureOut">
              <a:rPr lang="en-US" smtClean="0">
                <a:solidFill>
                  <a:prstClr val="black">
                    <a:tint val="75000"/>
                  </a:prstClr>
                </a:solidFill>
              </a:rPr>
              <a:pPr/>
              <a:t>3/10/2026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C058960-7274-4324-82D2-416B1C47C9D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6D3B1B-023B-4A22-B386-7A4EFD362CFB}" type="datetimeFigureOut">
              <a:rPr lang="en-US" smtClean="0">
                <a:solidFill>
                  <a:prstClr val="black">
                    <a:tint val="75000"/>
                  </a:prstClr>
                </a:solidFill>
              </a:rPr>
              <a:pPr/>
              <a:t>3/10/2026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C058960-7274-4324-82D2-416B1C47C9D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6D3B1B-023B-4A22-B386-7A4EFD362CFB}" type="datetimeFigureOut">
              <a:rPr lang="en-US" smtClean="0">
                <a:solidFill>
                  <a:prstClr val="black">
                    <a:tint val="75000"/>
                  </a:prstClr>
                </a:solidFill>
              </a:rPr>
              <a:pPr/>
              <a:t>3/10/2026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C058960-7274-4324-82D2-416B1C47C9D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6D3B1B-023B-4A22-B386-7A4EFD362CFB}" type="datetimeFigureOut">
              <a:rPr lang="en-US" smtClean="0">
                <a:solidFill>
                  <a:prstClr val="black">
                    <a:tint val="75000"/>
                  </a:prstClr>
                </a:solidFill>
              </a:rPr>
              <a:pPr/>
              <a:t>3/10/2026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C058960-7274-4324-82D2-416B1C47C9DA}" type="slidenum">
              <a:rPr lang="en-US" smtClean="0">
                <a:solidFill>
                  <a:prstClr val="black">
                    <a:tint val="75000"/>
                  </a:prstClr>
                </a:solidFill>
              </a:rPr>
              <a:pPr/>
              <a:t>‹#›</a:t>
            </a:fld>
            <a:endParaRPr 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762000"/>
          </a:xfrm>
          <a:prstGeom prst="rect">
            <a:avLst/>
          </a:prstGeom>
          <a:solidFill>
            <a:srgbClr val="003300"/>
          </a:solidFill>
          <a:scene3d>
            <a:camera prst="orthographicFront"/>
            <a:lightRig rig="threePt" dir="t"/>
          </a:scene3d>
          <a:sp3d>
            <a:bevelT prst="relaxedInset"/>
          </a:sp3d>
        </p:spPr>
        <p:txBody>
          <a:bodyPr vert="horz" lIns="91432" tIns="45716" rIns="91432" bIns="45716" rtlCol="0" anchor="ctr">
            <a:normAutofit/>
          </a:bodyPr>
          <a:lstStyle/>
          <a:p>
            <a:r>
              <a:rPr lang="en-US" dirty="0"/>
              <a:t>CLICK TO EDIT MASTER TITLE STYLE</a:t>
            </a:r>
          </a:p>
        </p:txBody>
      </p:sp>
      <p:sp>
        <p:nvSpPr>
          <p:cNvPr id="3" name="Text Placeholder 2"/>
          <p:cNvSpPr>
            <a:spLocks noGrp="1"/>
          </p:cNvSpPr>
          <p:nvPr>
            <p:ph type="body" idx="1"/>
          </p:nvPr>
        </p:nvSpPr>
        <p:spPr>
          <a:xfrm>
            <a:off x="228600" y="1066800"/>
            <a:ext cx="8686800" cy="4876800"/>
          </a:xfrm>
          <a:prstGeom prst="rect">
            <a:avLst/>
          </a:prstGeom>
          <a:ln>
            <a:solidFill>
              <a:srgbClr val="FFFF00"/>
            </a:solidFill>
          </a:ln>
        </p:spPr>
        <p:txBody>
          <a:bodyPr vert="horz" lIns="91432" tIns="45716" rIns="91432" bIns="45716"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p:cNvSpPr>
            <a:spLocks noGrp="1"/>
          </p:cNvSpPr>
          <p:nvPr>
            <p:ph type="sldNum" sz="quarter" idx="4"/>
          </p:nvPr>
        </p:nvSpPr>
        <p:spPr>
          <a:xfrm>
            <a:off x="8657898" y="6400801"/>
            <a:ext cx="457200" cy="320675"/>
          </a:xfrm>
          <a:prstGeom prst="rect">
            <a:avLst/>
          </a:prstGeom>
        </p:spPr>
        <p:txBody>
          <a:bodyPr vert="horz" lIns="91432" tIns="45716" rIns="91432" bIns="45716" rtlCol="0" anchor="ctr"/>
          <a:lstStyle>
            <a:lvl1pPr algn="r">
              <a:defRPr sz="1400" b="1">
                <a:solidFill>
                  <a:schemeClr val="tx1">
                    <a:tint val="75000"/>
                  </a:schemeClr>
                </a:solidFill>
                <a:latin typeface="Arial" pitchFamily="34" charset="0"/>
                <a:cs typeface="Arial" pitchFamily="34" charset="0"/>
              </a:defRPr>
            </a:lvl1pPr>
          </a:lstStyle>
          <a:p>
            <a:fld id="{5DFFF26C-93C9-49D4-9C20-B4030AEBF89C}" type="slidenum">
              <a:rPr lang="en-US" smtClean="0"/>
              <a:pPr/>
              <a:t>‹#›</a:t>
            </a:fld>
            <a:endParaRPr lang="en-US"/>
          </a:p>
        </p:txBody>
      </p:sp>
      <p:cxnSp>
        <p:nvCxnSpPr>
          <p:cNvPr id="8" name="Straight Connector 7"/>
          <p:cNvCxnSpPr/>
          <p:nvPr userDrawn="1"/>
        </p:nvCxnSpPr>
        <p:spPr>
          <a:xfrm>
            <a:off x="0" y="6248400"/>
            <a:ext cx="9144000" cy="1588"/>
          </a:xfrm>
          <a:prstGeom prst="line">
            <a:avLst/>
          </a:prstGeom>
          <a:ln w="28575">
            <a:solidFill>
              <a:srgbClr val="FFFF00"/>
            </a:solidFill>
          </a:ln>
        </p:spPr>
        <p:style>
          <a:lnRef idx="1">
            <a:schemeClr val="accent1"/>
          </a:lnRef>
          <a:fillRef idx="0">
            <a:schemeClr val="accent1"/>
          </a:fillRef>
          <a:effectRef idx="0">
            <a:schemeClr val="accent1"/>
          </a:effectRef>
          <a:fontRef idx="minor">
            <a:schemeClr val="tx1"/>
          </a:fontRef>
        </p:style>
      </p:cxnSp>
    </p:spTree>
  </p:cSld>
  <p:clrMap bg1="dk1" tx1="lt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709" r:id="rId5"/>
    <p:sldLayoutId id="2147483722" r:id="rId6"/>
  </p:sldLayoutIdLst>
  <p:transition/>
  <p:hf hdr="0" ftr="0" dt="0"/>
  <p:txStyles>
    <p:titleStyle>
      <a:lvl1pPr algn="ctr" defTabSz="914318" rtl="0" eaLnBrk="1" latinLnBrk="0" hangingPunct="1">
        <a:spcBef>
          <a:spcPct val="0"/>
        </a:spcBef>
        <a:buNone/>
        <a:defRPr sz="2800" b="1" kern="1200">
          <a:solidFill>
            <a:srgbClr val="FFFF00"/>
          </a:solidFill>
          <a:latin typeface="Arial" pitchFamily="34" charset="0"/>
          <a:ea typeface="+mj-ea"/>
          <a:cs typeface="Arial" pitchFamily="34" charset="0"/>
        </a:defRPr>
      </a:lvl1pPr>
    </p:titleStyle>
    <p:bodyStyle>
      <a:lvl1pPr marL="231754" indent="-231754" algn="l" defTabSz="914318" rtl="0" eaLnBrk="1" latinLnBrk="0" hangingPunct="1">
        <a:lnSpc>
          <a:spcPct val="150000"/>
        </a:lnSpc>
        <a:spcBef>
          <a:spcPct val="20000"/>
        </a:spcBef>
        <a:buFont typeface="Wingdings" pitchFamily="2" charset="2"/>
        <a:buChar char="§"/>
        <a:defRPr sz="2200" kern="1200">
          <a:solidFill>
            <a:schemeClr val="tx1"/>
          </a:solidFill>
          <a:latin typeface="Arial" pitchFamily="34" charset="0"/>
          <a:ea typeface="+mn-ea"/>
          <a:cs typeface="Arial" pitchFamily="34" charset="0"/>
        </a:defRPr>
      </a:lvl1pPr>
      <a:lvl2pPr marL="463509" indent="-231754" algn="l" defTabSz="914318" rtl="0" eaLnBrk="1" latinLnBrk="0" hangingPunct="1">
        <a:lnSpc>
          <a:spcPct val="150000"/>
        </a:lnSpc>
        <a:spcBef>
          <a:spcPct val="20000"/>
        </a:spcBef>
        <a:buFont typeface="Wingdings" pitchFamily="2" charset="2"/>
        <a:buChar char="§"/>
        <a:defRPr sz="2000" kern="1200">
          <a:solidFill>
            <a:schemeClr val="tx1"/>
          </a:solidFill>
          <a:latin typeface="Arial" pitchFamily="34" charset="0"/>
          <a:ea typeface="+mn-ea"/>
          <a:cs typeface="Arial" pitchFamily="34" charset="0"/>
        </a:defRPr>
      </a:lvl2pPr>
      <a:lvl3pPr marL="682564" indent="-219055" algn="l" defTabSz="914318" rtl="0" eaLnBrk="1" latinLnBrk="0" hangingPunct="1">
        <a:lnSpc>
          <a:spcPct val="150000"/>
        </a:lnSpc>
        <a:spcBef>
          <a:spcPct val="20000"/>
        </a:spcBef>
        <a:buFont typeface="Wingdings" pitchFamily="2" charset="2"/>
        <a:buChar char="§"/>
        <a:defRPr sz="1800" kern="1200">
          <a:solidFill>
            <a:schemeClr val="tx1"/>
          </a:solidFill>
          <a:latin typeface="Arial" pitchFamily="34" charset="0"/>
          <a:ea typeface="+mn-ea"/>
          <a:cs typeface="Arial" pitchFamily="34" charset="0"/>
        </a:defRPr>
      </a:lvl3pPr>
      <a:lvl4pPr marL="914318" indent="-231754" algn="l" defTabSz="914318" rtl="0" eaLnBrk="1" latinLnBrk="0" hangingPunct="1">
        <a:lnSpc>
          <a:spcPct val="150000"/>
        </a:lnSpc>
        <a:spcBef>
          <a:spcPct val="20000"/>
        </a:spcBef>
        <a:buFont typeface="Wingdings" pitchFamily="2" charset="2"/>
        <a:buChar char="§"/>
        <a:defRPr sz="1600" kern="1200">
          <a:solidFill>
            <a:schemeClr val="tx1"/>
          </a:solidFill>
          <a:latin typeface="Arial" pitchFamily="34" charset="0"/>
          <a:ea typeface="+mn-ea"/>
          <a:cs typeface="Arial" pitchFamily="34" charset="0"/>
        </a:defRPr>
      </a:lvl4pPr>
      <a:lvl5pPr marL="2057217" indent="-228580" algn="l" defTabSz="914318" rtl="0" eaLnBrk="1" latinLnBrk="0" hangingPunct="1">
        <a:lnSpc>
          <a:spcPct val="150000"/>
        </a:lnSpc>
        <a:spcBef>
          <a:spcPct val="20000"/>
        </a:spcBef>
        <a:buFont typeface="Wingdings" pitchFamily="2" charset="2"/>
        <a:buChar char="§"/>
        <a:defRPr sz="3200" kern="1200">
          <a:solidFill>
            <a:schemeClr val="tx1"/>
          </a:solidFill>
          <a:latin typeface="Arial" pitchFamily="34" charset="0"/>
          <a:ea typeface="+mn-ea"/>
          <a:cs typeface="Arial" pitchFamily="34" charset="0"/>
        </a:defRPr>
      </a:lvl5pPr>
      <a:lvl6pPr marL="2514376" indent="-228580" algn="l" defTabSz="91431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35" indent="-228580" algn="l" defTabSz="91431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95" indent="-228580" algn="l" defTabSz="91431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54" indent="-228580" algn="l" defTabSz="91431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7" algn="l" defTabSz="914318" rtl="0" eaLnBrk="1" latinLnBrk="0" hangingPunct="1">
        <a:defRPr sz="1800" kern="1200">
          <a:solidFill>
            <a:schemeClr val="tx1"/>
          </a:solidFill>
          <a:latin typeface="+mn-lt"/>
          <a:ea typeface="+mn-ea"/>
          <a:cs typeface="+mn-cs"/>
        </a:defRPr>
      </a:lvl4pPr>
      <a:lvl5pPr marL="1828637" algn="l" defTabSz="914318" rtl="0" eaLnBrk="1" latinLnBrk="0" hangingPunct="1">
        <a:defRPr sz="1800" kern="1200">
          <a:solidFill>
            <a:schemeClr val="tx1"/>
          </a:solidFill>
          <a:latin typeface="+mn-lt"/>
          <a:ea typeface="+mn-ea"/>
          <a:cs typeface="+mn-cs"/>
        </a:defRPr>
      </a:lvl5pPr>
      <a:lvl6pPr marL="2285797" algn="l" defTabSz="914318" rtl="0" eaLnBrk="1" latinLnBrk="0" hangingPunct="1">
        <a:defRPr sz="1800" kern="1200">
          <a:solidFill>
            <a:schemeClr val="tx1"/>
          </a:solidFill>
          <a:latin typeface="+mn-lt"/>
          <a:ea typeface="+mn-ea"/>
          <a:cs typeface="+mn-cs"/>
        </a:defRPr>
      </a:lvl6pPr>
      <a:lvl7pPr marL="2742956" algn="l" defTabSz="914318" rtl="0" eaLnBrk="1" latinLnBrk="0" hangingPunct="1">
        <a:defRPr sz="1800" kern="1200">
          <a:solidFill>
            <a:schemeClr val="tx1"/>
          </a:solidFill>
          <a:latin typeface="+mn-lt"/>
          <a:ea typeface="+mn-ea"/>
          <a:cs typeface="+mn-cs"/>
        </a:defRPr>
      </a:lvl7pPr>
      <a:lvl8pPr marL="3200115" algn="l" defTabSz="914318" rtl="0" eaLnBrk="1" latinLnBrk="0" hangingPunct="1">
        <a:defRPr sz="1800" kern="1200">
          <a:solidFill>
            <a:schemeClr val="tx1"/>
          </a:solidFill>
          <a:latin typeface="+mn-lt"/>
          <a:ea typeface="+mn-ea"/>
          <a:cs typeface="+mn-cs"/>
        </a:defRPr>
      </a:lvl8pPr>
      <a:lvl9pPr marL="3657274" algn="l" defTabSz="91431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914400"/>
            <a:fld id="{506D3B1B-023B-4A22-B386-7A4EFD362CFB}" type="datetimeFigureOut">
              <a:rPr lang="en-US" smtClean="0">
                <a:solidFill>
                  <a:prstClr val="black">
                    <a:tint val="75000"/>
                  </a:prstClr>
                </a:solidFill>
              </a:rPr>
              <a:pPr defTabSz="914400"/>
              <a:t>3/10/2026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914400"/>
            <a:fld id="{EC058960-7274-4324-82D2-416B1C47C9DA}" type="slidenum">
              <a:rPr lang="en-US" smtClean="0">
                <a:solidFill>
                  <a:prstClr val="black">
                    <a:tint val="75000"/>
                  </a:prstClr>
                </a:solidFill>
              </a:rPr>
              <a:pPr defTabSz="914400"/>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gif"/><Relationship Id="rId1" Type="http://schemas.openxmlformats.org/officeDocument/2006/relationships/slideLayout" Target="../slideLayouts/slideLayout5.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gi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gi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gi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gif"/><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3.jfif"/><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hyperlink" Target="https://www.youtube.com/watch?v=qMWBSq2SnAQ" TargetMode="Externa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22F3A06-9B47-4B43-9A6F-2AF160BE7099}"/>
              </a:ext>
            </a:extLst>
          </p:cNvPr>
          <p:cNvPicPr>
            <a:picLocks noChangeAspect="1"/>
          </p:cNvPicPr>
          <p:nvPr/>
        </p:nvPicPr>
        <p:blipFill rotWithShape="1">
          <a:blip r:embed="rId2"/>
          <a:srcRect l="19091" t="9091"/>
          <a:stretch/>
        </p:blipFill>
        <p:spPr>
          <a:xfrm>
            <a:off x="20" y="10"/>
            <a:ext cx="9143980" cy="6857990"/>
          </a:xfrm>
          <a:prstGeom prst="rect">
            <a:avLst/>
          </a:prstGeom>
        </p:spPr>
      </p:pic>
      <p:sp>
        <p:nvSpPr>
          <p:cNvPr id="22" name="Rectangle 21">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7" y="-10136"/>
            <a:ext cx="4592270" cy="9144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5A16B50-5889-4E76-8463-E12E5B911D9B}"/>
              </a:ext>
            </a:extLst>
          </p:cNvPr>
          <p:cNvSpPr>
            <a:spLocks noGrp="1"/>
          </p:cNvSpPr>
          <p:nvPr>
            <p:ph type="title"/>
          </p:nvPr>
        </p:nvSpPr>
        <p:spPr>
          <a:xfrm>
            <a:off x="303414" y="3091928"/>
            <a:ext cx="6808922" cy="2387600"/>
          </a:xfrm>
        </p:spPr>
        <p:txBody>
          <a:bodyPr vert="horz" lIns="91440" tIns="45720" rIns="91440" bIns="45720" rtlCol="0" anchor="b">
            <a:normAutofit/>
          </a:bodyPr>
          <a:lstStyle/>
          <a:p>
            <a:pPr algn="l">
              <a:lnSpc>
                <a:spcPct val="90000"/>
              </a:lnSpc>
            </a:pPr>
            <a:r>
              <a:rPr lang="en-US" sz="5700"/>
              <a:t>Writing A Busines Plan </a:t>
            </a:r>
          </a:p>
        </p:txBody>
      </p:sp>
      <p:sp>
        <p:nvSpPr>
          <p:cNvPr id="24" name="Rectangle: Rounded Corners 23">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190814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solidFill>
                <a:prstClr val="white"/>
              </a:solidFill>
            </a:endParaRPr>
          </a:p>
        </p:txBody>
      </p:sp>
      <p:sp>
        <p:nvSpPr>
          <p:cNvPr id="55300" name="Slide Number Placeholder 5"/>
          <p:cNvSpPr>
            <a:spLocks noGrp="1"/>
          </p:cNvSpPr>
          <p:nvPr>
            <p:ph type="sldNum" sz="quarter" idx="12"/>
          </p:nvPr>
        </p:nvSpPr>
        <p:spPr>
          <a:xfrm>
            <a:off x="8534400" y="6400801"/>
            <a:ext cx="580698" cy="457199"/>
          </a:xfrm>
          <a:noFill/>
        </p:spPr>
        <p:txBody>
          <a:bodyPr/>
          <a:lstStyle/>
          <a:p>
            <a:fld id="{C9D662BD-E075-4167-A29B-D0062BD63688}" type="slidenum">
              <a:rPr lang="en-US" smtClean="0">
                <a:solidFill>
                  <a:prstClr val="white">
                    <a:tint val="75000"/>
                  </a:prstClr>
                </a:solidFill>
              </a:rPr>
              <a:pPr/>
              <a:t>2</a:t>
            </a:fld>
            <a:endParaRPr lang="en-US" dirty="0">
              <a:solidFill>
                <a:prstClr val="white">
                  <a:tint val="75000"/>
                </a:prstClr>
              </a:solidFill>
            </a:endParaRPr>
          </a:p>
        </p:txBody>
      </p:sp>
      <p:sp>
        <p:nvSpPr>
          <p:cNvPr id="5" name="Rectangle 276"/>
          <p:cNvSpPr>
            <a:spLocks noChangeArrowheads="1"/>
          </p:cNvSpPr>
          <p:nvPr/>
        </p:nvSpPr>
        <p:spPr bwMode="auto">
          <a:xfrm>
            <a:off x="228600" y="885771"/>
            <a:ext cx="8686800" cy="5539978"/>
          </a:xfrm>
          <a:prstGeom prst="rect">
            <a:avLst/>
          </a:prstGeom>
          <a:solidFill>
            <a:srgbClr val="002060"/>
          </a:solidFill>
          <a:ln>
            <a:noFill/>
          </a:ln>
        </p:spPr>
        <p:txBody>
          <a:bodyPr wrap="square" anchor="ctr">
            <a:spAutoFit/>
          </a:bodyPr>
          <a:lstStyle/>
          <a:p>
            <a:pPr marL="463550" lvl="1" indent="-463550" algn="just">
              <a:lnSpc>
                <a:spcPct val="150000"/>
              </a:lnSpc>
              <a:spcBef>
                <a:spcPts val="600"/>
              </a:spcBef>
              <a:spcAft>
                <a:spcPts val="600"/>
              </a:spcAft>
              <a:buFont typeface="Arial" pitchFamily="34" charset="0"/>
              <a:buChar char="•"/>
              <a:defRPr/>
            </a:pPr>
            <a:r>
              <a:rPr lang="en-US" sz="2400" dirty="0">
                <a:solidFill>
                  <a:prstClr val="white"/>
                </a:solidFill>
              </a:rPr>
              <a:t>A business plan is a written narrative that describes </a:t>
            </a:r>
            <a:r>
              <a:rPr lang="en-US" sz="2400" dirty="0">
                <a:solidFill>
                  <a:srgbClr val="FFFF00"/>
                </a:solidFill>
              </a:rPr>
              <a:t>what a new business intends to accomplish and how  to accomplish it</a:t>
            </a:r>
          </a:p>
          <a:p>
            <a:pPr marL="463550" lvl="1" indent="-463550" algn="just">
              <a:lnSpc>
                <a:spcPct val="150000"/>
              </a:lnSpc>
              <a:spcBef>
                <a:spcPts val="600"/>
              </a:spcBef>
              <a:spcAft>
                <a:spcPts val="600"/>
              </a:spcAft>
              <a:buFont typeface="Arial" pitchFamily="34" charset="0"/>
              <a:buChar char="•"/>
              <a:defRPr/>
            </a:pPr>
            <a:r>
              <a:rPr lang="en-US" sz="2400" dirty="0">
                <a:solidFill>
                  <a:prstClr val="white"/>
                </a:solidFill>
              </a:rPr>
              <a:t>For most new ventures, the business plan is a dual-purpose </a:t>
            </a:r>
            <a:r>
              <a:rPr lang="en-US" sz="2400" dirty="0">
                <a:solidFill>
                  <a:srgbClr val="FFFF00"/>
                </a:solidFill>
              </a:rPr>
              <a:t>document used both inside and outside the firm</a:t>
            </a:r>
          </a:p>
          <a:p>
            <a:pPr marL="463550" lvl="1" indent="-463550" algn="just">
              <a:lnSpc>
                <a:spcPct val="150000"/>
              </a:lnSpc>
              <a:spcBef>
                <a:spcPts val="600"/>
              </a:spcBef>
              <a:spcAft>
                <a:spcPts val="600"/>
              </a:spcAft>
              <a:buFont typeface="Arial" pitchFamily="34" charset="0"/>
              <a:buChar char="•"/>
              <a:defRPr/>
            </a:pPr>
            <a:r>
              <a:rPr lang="en-US" sz="2400" dirty="0">
                <a:solidFill>
                  <a:prstClr val="white"/>
                </a:solidFill>
              </a:rPr>
              <a:t>Inside the firm, the plan helps the company </a:t>
            </a:r>
            <a:r>
              <a:rPr lang="en-US" sz="2400" dirty="0">
                <a:solidFill>
                  <a:srgbClr val="FFFF00"/>
                </a:solidFill>
              </a:rPr>
              <a:t>to develop a “road map” </a:t>
            </a:r>
            <a:r>
              <a:rPr lang="en-US" sz="2400" dirty="0">
                <a:solidFill>
                  <a:prstClr val="white"/>
                </a:solidFill>
              </a:rPr>
              <a:t>to follow to execute its strategies and plans</a:t>
            </a:r>
          </a:p>
          <a:p>
            <a:pPr marL="463550" lvl="1" indent="-463550" algn="just">
              <a:lnSpc>
                <a:spcPct val="150000"/>
              </a:lnSpc>
              <a:spcBef>
                <a:spcPts val="600"/>
              </a:spcBef>
              <a:spcAft>
                <a:spcPts val="600"/>
              </a:spcAft>
              <a:buFont typeface="Arial" pitchFamily="34" charset="0"/>
              <a:buChar char="•"/>
              <a:defRPr/>
            </a:pPr>
            <a:r>
              <a:rPr lang="en-US" sz="2400" dirty="0">
                <a:solidFill>
                  <a:prstClr val="white"/>
                </a:solidFill>
              </a:rPr>
              <a:t>Outside the firm, it </a:t>
            </a:r>
            <a:r>
              <a:rPr lang="en-US" sz="2400" dirty="0">
                <a:solidFill>
                  <a:srgbClr val="FFFF00"/>
                </a:solidFill>
              </a:rPr>
              <a:t>introduces potential investors </a:t>
            </a:r>
            <a:r>
              <a:rPr lang="en-US" sz="2400" dirty="0">
                <a:solidFill>
                  <a:prstClr val="white"/>
                </a:solidFill>
              </a:rPr>
              <a:t>and other stakeholders to the </a:t>
            </a:r>
            <a:r>
              <a:rPr lang="en-US" sz="2400" dirty="0">
                <a:solidFill>
                  <a:srgbClr val="FFFF00"/>
                </a:solidFill>
              </a:rPr>
              <a:t>business opportunity the firm is pursuing </a:t>
            </a:r>
            <a:r>
              <a:rPr lang="en-US" sz="2400" dirty="0">
                <a:solidFill>
                  <a:prstClr val="white"/>
                </a:solidFill>
              </a:rPr>
              <a:t>and how it plans to pursue it</a:t>
            </a:r>
          </a:p>
        </p:txBody>
      </p:sp>
      <p:sp>
        <p:nvSpPr>
          <p:cNvPr id="8" name="Action Button: Back or Previous 5">
            <a:hlinkClick r:id="" action="ppaction://noaction" highlightClick="1"/>
          </p:cNvPr>
          <p:cNvSpPr>
            <a:spLocks noChangeArrowheads="1"/>
          </p:cNvSpPr>
          <p:nvPr/>
        </p:nvSpPr>
        <p:spPr bwMode="auto">
          <a:xfrm>
            <a:off x="8229600" y="6400800"/>
            <a:ext cx="304800" cy="228600"/>
          </a:xfrm>
          <a:prstGeom prst="actionButtonBackPrevious">
            <a:avLst/>
          </a:prstGeom>
          <a:noFill/>
          <a:ln w="9525" algn="ctr">
            <a:solidFill>
              <a:schemeClr val="bg1"/>
            </a:solidFill>
            <a:round/>
            <a:headEnd/>
            <a:tailEnd/>
          </a:ln>
        </p:spPr>
        <p:txBody>
          <a:bodyPr/>
          <a:lstStyle/>
          <a:p>
            <a:pPr algn="ctr"/>
            <a:endParaRPr lang="en-US" dirty="0">
              <a:solidFill>
                <a:prstClr val="white"/>
              </a:solidFill>
            </a:endParaRP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Introduction</a:t>
            </a:r>
          </a:p>
        </p:txBody>
      </p:sp>
    </p:spTree>
    <p:extLst>
      <p:ext uri="{BB962C8B-B14F-4D97-AF65-F5344CB8AC3E}">
        <p14:creationId xmlns:p14="http://schemas.microsoft.com/office/powerpoint/2010/main" val="164297081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solidFill>
                <a:prstClr val="white"/>
              </a:solidFill>
            </a:endParaRPr>
          </a:p>
        </p:txBody>
      </p:sp>
      <p:sp>
        <p:nvSpPr>
          <p:cNvPr id="55300" name="Slide Number Placeholder 5"/>
          <p:cNvSpPr>
            <a:spLocks noGrp="1"/>
          </p:cNvSpPr>
          <p:nvPr>
            <p:ph type="sldNum" sz="quarter" idx="12"/>
          </p:nvPr>
        </p:nvSpPr>
        <p:spPr>
          <a:xfrm>
            <a:off x="8534400" y="6400801"/>
            <a:ext cx="580698" cy="457199"/>
          </a:xfrm>
          <a:noFill/>
        </p:spPr>
        <p:txBody>
          <a:bodyPr/>
          <a:lstStyle/>
          <a:p>
            <a:fld id="{C9D662BD-E075-4167-A29B-D0062BD63688}" type="slidenum">
              <a:rPr lang="en-US" smtClean="0">
                <a:solidFill>
                  <a:prstClr val="white">
                    <a:tint val="75000"/>
                  </a:prstClr>
                </a:solidFill>
              </a:rPr>
              <a:pPr/>
              <a:t>3</a:t>
            </a:fld>
            <a:endParaRPr lang="en-US" dirty="0">
              <a:solidFill>
                <a:prstClr val="white">
                  <a:tint val="75000"/>
                </a:prstClr>
              </a:solidFill>
            </a:endParaRPr>
          </a:p>
        </p:txBody>
      </p:sp>
      <p:sp>
        <p:nvSpPr>
          <p:cNvPr id="8" name="Action Button: Back or Previous 5">
            <a:hlinkClick r:id="" action="ppaction://noaction" highlightClick="1"/>
          </p:cNvPr>
          <p:cNvSpPr>
            <a:spLocks noChangeArrowheads="1"/>
          </p:cNvSpPr>
          <p:nvPr/>
        </p:nvSpPr>
        <p:spPr bwMode="auto">
          <a:xfrm>
            <a:off x="8229600" y="6400800"/>
            <a:ext cx="304800" cy="228600"/>
          </a:xfrm>
          <a:prstGeom prst="actionButtonBackPrevious">
            <a:avLst/>
          </a:prstGeom>
          <a:noFill/>
          <a:ln w="9525" algn="ctr">
            <a:solidFill>
              <a:schemeClr val="bg1"/>
            </a:solidFill>
            <a:round/>
            <a:headEnd/>
            <a:tailEnd/>
          </a:ln>
        </p:spPr>
        <p:txBody>
          <a:bodyPr/>
          <a:lstStyle/>
          <a:p>
            <a:pPr algn="ctr"/>
            <a:endParaRPr lang="en-US" dirty="0">
              <a:solidFill>
                <a:prstClr val="white"/>
              </a:solidFill>
            </a:endParaRP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Introduction</a:t>
            </a:r>
          </a:p>
        </p:txBody>
      </p:sp>
      <p:grpSp>
        <p:nvGrpSpPr>
          <p:cNvPr id="16" name="Group 15"/>
          <p:cNvGrpSpPr/>
          <p:nvPr/>
        </p:nvGrpSpPr>
        <p:grpSpPr>
          <a:xfrm>
            <a:off x="1371600" y="1828800"/>
            <a:ext cx="6858000" cy="3276600"/>
            <a:chOff x="990600" y="1371600"/>
            <a:chExt cx="6858000" cy="3276600"/>
          </a:xfrm>
        </p:grpSpPr>
        <p:sp>
          <p:nvSpPr>
            <p:cNvPr id="10" name="Rectangle 9"/>
            <p:cNvSpPr/>
            <p:nvPr/>
          </p:nvSpPr>
          <p:spPr>
            <a:xfrm>
              <a:off x="2590800" y="1371600"/>
              <a:ext cx="3276600" cy="6858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prstClr val="white"/>
                  </a:solidFill>
                </a:rPr>
                <a:t>Business Plan </a:t>
              </a:r>
              <a:endParaRPr lang="en-US" sz="2400" dirty="0"/>
            </a:p>
          </p:txBody>
        </p:sp>
        <p:sp>
          <p:nvSpPr>
            <p:cNvPr id="11" name="Down Arrow 10"/>
            <p:cNvSpPr/>
            <p:nvPr/>
          </p:nvSpPr>
          <p:spPr>
            <a:xfrm rot="1468991">
              <a:off x="2813896" y="2085695"/>
              <a:ext cx="533400" cy="1829089"/>
            </a:xfrm>
            <a:prstGeom prst="downArrow">
              <a:avLst>
                <a:gd name="adj1" fmla="val 50000"/>
                <a:gd name="adj2" fmla="val 62072"/>
              </a:avLst>
            </a:prstGeom>
            <a:solidFill>
              <a:srgbClr val="0D5B2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0600" y="3962400"/>
              <a:ext cx="3276600" cy="6858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FF00"/>
                  </a:solidFill>
                </a:rPr>
                <a:t>what a new business intends to accomplish</a:t>
              </a:r>
              <a:endParaRPr lang="en-US" sz="2400" dirty="0"/>
            </a:p>
          </p:txBody>
        </p:sp>
        <p:sp>
          <p:nvSpPr>
            <p:cNvPr id="13" name="Rectangle 12"/>
            <p:cNvSpPr/>
            <p:nvPr/>
          </p:nvSpPr>
          <p:spPr>
            <a:xfrm>
              <a:off x="4572000" y="3962400"/>
              <a:ext cx="3276600" cy="6858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FF00"/>
                  </a:solidFill>
                </a:rPr>
                <a:t>How a new business to be accomplished</a:t>
              </a:r>
              <a:endParaRPr lang="en-US" sz="2400" dirty="0"/>
            </a:p>
          </p:txBody>
        </p:sp>
        <p:sp>
          <p:nvSpPr>
            <p:cNvPr id="14" name="Down Arrow 13"/>
            <p:cNvSpPr/>
            <p:nvPr/>
          </p:nvSpPr>
          <p:spPr>
            <a:xfrm rot="20116892">
              <a:off x="5280810" y="2105584"/>
              <a:ext cx="533400" cy="1829089"/>
            </a:xfrm>
            <a:prstGeom prst="downArrow">
              <a:avLst>
                <a:gd name="adj1" fmla="val 50000"/>
                <a:gd name="adj2" fmla="val 62072"/>
              </a:avLst>
            </a:prstGeom>
            <a:solidFill>
              <a:srgbClr val="0D5B2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3276600" y="2819400"/>
              <a:ext cx="1981200" cy="6096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Written Narrative</a:t>
              </a:r>
            </a:p>
          </p:txBody>
        </p:sp>
      </p:grpSp>
    </p:spTree>
    <p:extLst>
      <p:ext uri="{BB962C8B-B14F-4D97-AF65-F5344CB8AC3E}">
        <p14:creationId xmlns:p14="http://schemas.microsoft.com/office/powerpoint/2010/main" val="164297081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solidFill>
                <a:prstClr val="white"/>
              </a:solidFill>
            </a:endParaRPr>
          </a:p>
        </p:txBody>
      </p:sp>
      <p:sp>
        <p:nvSpPr>
          <p:cNvPr id="55300" name="Slide Number Placeholder 5"/>
          <p:cNvSpPr>
            <a:spLocks noGrp="1"/>
          </p:cNvSpPr>
          <p:nvPr>
            <p:ph type="sldNum" sz="quarter" idx="12"/>
          </p:nvPr>
        </p:nvSpPr>
        <p:spPr>
          <a:xfrm>
            <a:off x="8534400" y="6400801"/>
            <a:ext cx="580698" cy="457199"/>
          </a:xfrm>
          <a:noFill/>
        </p:spPr>
        <p:txBody>
          <a:bodyPr/>
          <a:lstStyle/>
          <a:p>
            <a:fld id="{C9D662BD-E075-4167-A29B-D0062BD63688}" type="slidenum">
              <a:rPr lang="en-US" smtClean="0">
                <a:solidFill>
                  <a:prstClr val="white">
                    <a:tint val="75000"/>
                  </a:prstClr>
                </a:solidFill>
              </a:rPr>
              <a:pPr/>
              <a:t>4</a:t>
            </a:fld>
            <a:endParaRPr lang="en-US" dirty="0">
              <a:solidFill>
                <a:prstClr val="white">
                  <a:tint val="75000"/>
                </a:prstClr>
              </a:solidFill>
            </a:endParaRPr>
          </a:p>
        </p:txBody>
      </p:sp>
      <p:sp>
        <p:nvSpPr>
          <p:cNvPr id="5" name="Rectangle 276"/>
          <p:cNvSpPr>
            <a:spLocks noChangeArrowheads="1"/>
          </p:cNvSpPr>
          <p:nvPr/>
        </p:nvSpPr>
        <p:spPr bwMode="auto">
          <a:xfrm>
            <a:off x="304800" y="1066800"/>
            <a:ext cx="4419600" cy="2308324"/>
          </a:xfrm>
          <a:prstGeom prst="rect">
            <a:avLst/>
          </a:prstGeom>
          <a:solidFill>
            <a:srgbClr val="002060"/>
          </a:solidFill>
          <a:ln>
            <a:noFill/>
          </a:ln>
        </p:spPr>
        <p:txBody>
          <a:bodyPr wrap="square" anchor="ctr">
            <a:spAutoFit/>
          </a:bodyPr>
          <a:lstStyle/>
          <a:p>
            <a:pPr marL="282575" lvl="1" indent="-282575" algn="just">
              <a:lnSpc>
                <a:spcPct val="150000"/>
              </a:lnSpc>
              <a:spcBef>
                <a:spcPts val="600"/>
              </a:spcBef>
              <a:spcAft>
                <a:spcPts val="600"/>
              </a:spcAft>
              <a:buFont typeface="Arial" pitchFamily="34" charset="0"/>
              <a:buChar char="•"/>
              <a:defRPr/>
            </a:pPr>
            <a:r>
              <a:rPr lang="en-US" sz="2400" dirty="0">
                <a:solidFill>
                  <a:prstClr val="white"/>
                </a:solidFill>
              </a:rPr>
              <a:t>For most new ventures, the business plan is a dual-purpose </a:t>
            </a:r>
            <a:r>
              <a:rPr lang="en-US" sz="2400" dirty="0">
                <a:solidFill>
                  <a:srgbClr val="FFFF00"/>
                </a:solidFill>
              </a:rPr>
              <a:t>document used both inside and outside the firm</a:t>
            </a:r>
          </a:p>
        </p:txBody>
      </p:sp>
      <p:sp>
        <p:nvSpPr>
          <p:cNvPr id="8" name="Action Button: Back or Previous 5">
            <a:hlinkClick r:id="" action="ppaction://noaction" highlightClick="1"/>
          </p:cNvPr>
          <p:cNvSpPr>
            <a:spLocks noChangeArrowheads="1"/>
          </p:cNvSpPr>
          <p:nvPr/>
        </p:nvSpPr>
        <p:spPr bwMode="auto">
          <a:xfrm>
            <a:off x="8229600" y="6400800"/>
            <a:ext cx="304800" cy="228600"/>
          </a:xfrm>
          <a:prstGeom prst="actionButtonBackPrevious">
            <a:avLst/>
          </a:prstGeom>
          <a:noFill/>
          <a:ln w="9525" algn="ctr">
            <a:solidFill>
              <a:schemeClr val="bg1"/>
            </a:solidFill>
            <a:round/>
            <a:headEnd/>
            <a:tailEnd/>
          </a:ln>
        </p:spPr>
        <p:txBody>
          <a:bodyPr/>
          <a:lstStyle/>
          <a:p>
            <a:pPr algn="ctr"/>
            <a:endParaRPr lang="en-US" dirty="0">
              <a:solidFill>
                <a:prstClr val="white"/>
              </a:solidFill>
            </a:endParaRP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Introduction</a:t>
            </a:r>
          </a:p>
        </p:txBody>
      </p:sp>
      <p:pic>
        <p:nvPicPr>
          <p:cNvPr id="80898" name="Picture 2" descr="Image result for document"/>
          <p:cNvPicPr>
            <a:picLocks noChangeAspect="1" noChangeArrowheads="1"/>
          </p:cNvPicPr>
          <p:nvPr/>
        </p:nvPicPr>
        <p:blipFill>
          <a:blip r:embed="rId2" cstate="print"/>
          <a:srcRect/>
          <a:stretch>
            <a:fillRect/>
          </a:stretch>
        </p:blipFill>
        <p:spPr bwMode="auto">
          <a:xfrm>
            <a:off x="4495800" y="3505200"/>
            <a:ext cx="4267200" cy="2895600"/>
          </a:xfrm>
          <a:prstGeom prst="rect">
            <a:avLst/>
          </a:prstGeom>
          <a:noFill/>
        </p:spPr>
      </p:pic>
    </p:spTree>
    <p:extLst>
      <p:ext uri="{BB962C8B-B14F-4D97-AF65-F5344CB8AC3E}">
        <p14:creationId xmlns:p14="http://schemas.microsoft.com/office/powerpoint/2010/main" val="164297081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solidFill>
                <a:prstClr val="white"/>
              </a:solidFill>
            </a:endParaRPr>
          </a:p>
        </p:txBody>
      </p:sp>
      <p:sp>
        <p:nvSpPr>
          <p:cNvPr id="55300" name="Slide Number Placeholder 5"/>
          <p:cNvSpPr>
            <a:spLocks noGrp="1"/>
          </p:cNvSpPr>
          <p:nvPr>
            <p:ph type="sldNum" sz="quarter" idx="12"/>
          </p:nvPr>
        </p:nvSpPr>
        <p:spPr>
          <a:xfrm>
            <a:off x="8534400" y="6400801"/>
            <a:ext cx="580698" cy="457199"/>
          </a:xfrm>
          <a:noFill/>
        </p:spPr>
        <p:txBody>
          <a:bodyPr/>
          <a:lstStyle/>
          <a:p>
            <a:fld id="{C9D662BD-E075-4167-A29B-D0062BD63688}" type="slidenum">
              <a:rPr lang="en-US" smtClean="0">
                <a:solidFill>
                  <a:prstClr val="white">
                    <a:tint val="75000"/>
                  </a:prstClr>
                </a:solidFill>
              </a:rPr>
              <a:pPr/>
              <a:t>5</a:t>
            </a:fld>
            <a:endParaRPr lang="en-US" dirty="0">
              <a:solidFill>
                <a:prstClr val="white">
                  <a:tint val="75000"/>
                </a:prstClr>
              </a:solidFill>
            </a:endParaRPr>
          </a:p>
        </p:txBody>
      </p:sp>
      <p:sp>
        <p:nvSpPr>
          <p:cNvPr id="5" name="Rectangle 276"/>
          <p:cNvSpPr>
            <a:spLocks noChangeArrowheads="1"/>
          </p:cNvSpPr>
          <p:nvPr/>
        </p:nvSpPr>
        <p:spPr bwMode="auto">
          <a:xfrm>
            <a:off x="152400" y="4259996"/>
            <a:ext cx="8763000" cy="1200329"/>
          </a:xfrm>
          <a:prstGeom prst="rect">
            <a:avLst/>
          </a:prstGeom>
          <a:solidFill>
            <a:srgbClr val="002060"/>
          </a:solidFill>
          <a:ln>
            <a:noFill/>
          </a:ln>
        </p:spPr>
        <p:txBody>
          <a:bodyPr wrap="square" anchor="ctr">
            <a:spAutoFit/>
          </a:bodyPr>
          <a:lstStyle/>
          <a:p>
            <a:pPr marL="463550" lvl="1" indent="-463550" algn="just">
              <a:lnSpc>
                <a:spcPct val="150000"/>
              </a:lnSpc>
              <a:spcBef>
                <a:spcPts val="600"/>
              </a:spcBef>
              <a:spcAft>
                <a:spcPts val="600"/>
              </a:spcAft>
              <a:buFont typeface="Arial" pitchFamily="34" charset="0"/>
              <a:buChar char="•"/>
              <a:defRPr/>
            </a:pPr>
            <a:r>
              <a:rPr lang="en-US" sz="2400" dirty="0">
                <a:solidFill>
                  <a:prstClr val="white"/>
                </a:solidFill>
              </a:rPr>
              <a:t>Inside the firm, the plan helps the company </a:t>
            </a:r>
            <a:r>
              <a:rPr lang="en-US" sz="2400" dirty="0">
                <a:solidFill>
                  <a:srgbClr val="FFFF00"/>
                </a:solidFill>
              </a:rPr>
              <a:t>to develop a “road map” </a:t>
            </a:r>
            <a:r>
              <a:rPr lang="en-US" sz="2400" dirty="0">
                <a:solidFill>
                  <a:prstClr val="white"/>
                </a:solidFill>
              </a:rPr>
              <a:t>to follow to execute its strategies and plans</a:t>
            </a:r>
          </a:p>
        </p:txBody>
      </p:sp>
      <p:sp>
        <p:nvSpPr>
          <p:cNvPr id="8" name="Action Button: Back or Previous 5">
            <a:hlinkClick r:id="" action="ppaction://noaction" highlightClick="1"/>
          </p:cNvPr>
          <p:cNvSpPr>
            <a:spLocks noChangeArrowheads="1"/>
          </p:cNvSpPr>
          <p:nvPr/>
        </p:nvSpPr>
        <p:spPr bwMode="auto">
          <a:xfrm>
            <a:off x="8229600" y="6400800"/>
            <a:ext cx="304800" cy="228600"/>
          </a:xfrm>
          <a:prstGeom prst="actionButtonBackPrevious">
            <a:avLst/>
          </a:prstGeom>
          <a:noFill/>
          <a:ln w="9525" algn="ctr">
            <a:solidFill>
              <a:schemeClr val="bg1"/>
            </a:solidFill>
            <a:round/>
            <a:headEnd/>
            <a:tailEnd/>
          </a:ln>
        </p:spPr>
        <p:txBody>
          <a:bodyPr/>
          <a:lstStyle/>
          <a:p>
            <a:pPr algn="ctr"/>
            <a:endParaRPr lang="en-US" dirty="0">
              <a:solidFill>
                <a:prstClr val="white"/>
              </a:solidFill>
            </a:endParaRP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Introduction</a:t>
            </a:r>
          </a:p>
        </p:txBody>
      </p:sp>
      <p:pic>
        <p:nvPicPr>
          <p:cNvPr id="84994" name="Picture 2" descr="Image result for roadmap"/>
          <p:cNvPicPr>
            <a:picLocks noChangeAspect="1" noChangeArrowheads="1"/>
          </p:cNvPicPr>
          <p:nvPr/>
        </p:nvPicPr>
        <p:blipFill>
          <a:blip r:embed="rId2" cstate="print"/>
          <a:srcRect/>
          <a:stretch>
            <a:fillRect/>
          </a:stretch>
        </p:blipFill>
        <p:spPr bwMode="auto">
          <a:xfrm>
            <a:off x="2438400" y="990600"/>
            <a:ext cx="3928306" cy="3105150"/>
          </a:xfrm>
          <a:prstGeom prst="rect">
            <a:avLst/>
          </a:prstGeom>
          <a:noFill/>
        </p:spPr>
      </p:pic>
    </p:spTree>
    <p:extLst>
      <p:ext uri="{BB962C8B-B14F-4D97-AF65-F5344CB8AC3E}">
        <p14:creationId xmlns:p14="http://schemas.microsoft.com/office/powerpoint/2010/main" val="164297081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solidFill>
                <a:prstClr val="white"/>
              </a:solidFill>
            </a:endParaRPr>
          </a:p>
        </p:txBody>
      </p:sp>
      <p:sp>
        <p:nvSpPr>
          <p:cNvPr id="55300" name="Slide Number Placeholder 5"/>
          <p:cNvSpPr>
            <a:spLocks noGrp="1"/>
          </p:cNvSpPr>
          <p:nvPr>
            <p:ph type="sldNum" sz="quarter" idx="12"/>
          </p:nvPr>
        </p:nvSpPr>
        <p:spPr>
          <a:xfrm>
            <a:off x="8534400" y="6400801"/>
            <a:ext cx="580698" cy="457199"/>
          </a:xfrm>
          <a:noFill/>
        </p:spPr>
        <p:txBody>
          <a:bodyPr/>
          <a:lstStyle/>
          <a:p>
            <a:fld id="{C9D662BD-E075-4167-A29B-D0062BD63688}" type="slidenum">
              <a:rPr lang="en-US" smtClean="0">
                <a:solidFill>
                  <a:prstClr val="white">
                    <a:tint val="75000"/>
                  </a:prstClr>
                </a:solidFill>
              </a:rPr>
              <a:pPr/>
              <a:t>6</a:t>
            </a:fld>
            <a:endParaRPr lang="en-US" dirty="0">
              <a:solidFill>
                <a:prstClr val="white">
                  <a:tint val="75000"/>
                </a:prstClr>
              </a:solidFill>
            </a:endParaRPr>
          </a:p>
        </p:txBody>
      </p:sp>
      <p:sp>
        <p:nvSpPr>
          <p:cNvPr id="5" name="Rectangle 276"/>
          <p:cNvSpPr>
            <a:spLocks noChangeArrowheads="1"/>
          </p:cNvSpPr>
          <p:nvPr/>
        </p:nvSpPr>
        <p:spPr bwMode="auto">
          <a:xfrm>
            <a:off x="228600" y="4191000"/>
            <a:ext cx="8686800" cy="1697068"/>
          </a:xfrm>
          <a:prstGeom prst="rect">
            <a:avLst/>
          </a:prstGeom>
          <a:solidFill>
            <a:srgbClr val="002060"/>
          </a:solidFill>
          <a:ln>
            <a:noFill/>
          </a:ln>
        </p:spPr>
        <p:txBody>
          <a:bodyPr wrap="square" anchor="ctr">
            <a:spAutoFit/>
          </a:bodyPr>
          <a:lstStyle/>
          <a:p>
            <a:pPr marL="463550" lvl="1" indent="-463550" algn="just">
              <a:lnSpc>
                <a:spcPct val="150000"/>
              </a:lnSpc>
              <a:spcBef>
                <a:spcPts val="600"/>
              </a:spcBef>
              <a:spcAft>
                <a:spcPts val="600"/>
              </a:spcAft>
              <a:buFont typeface="Arial" pitchFamily="34" charset="0"/>
              <a:buChar char="•"/>
              <a:defRPr/>
            </a:pPr>
            <a:r>
              <a:rPr lang="en-US" sz="2400" dirty="0">
                <a:solidFill>
                  <a:prstClr val="white"/>
                </a:solidFill>
              </a:rPr>
              <a:t>Outside the firm, it </a:t>
            </a:r>
            <a:r>
              <a:rPr lang="en-US" sz="2400" dirty="0">
                <a:solidFill>
                  <a:srgbClr val="FFFF00"/>
                </a:solidFill>
              </a:rPr>
              <a:t>introduces potential investors </a:t>
            </a:r>
            <a:r>
              <a:rPr lang="en-US" sz="2400" dirty="0">
                <a:solidFill>
                  <a:prstClr val="white"/>
                </a:solidFill>
              </a:rPr>
              <a:t>and other stakeholders to the </a:t>
            </a:r>
            <a:r>
              <a:rPr lang="en-US" sz="2400" dirty="0">
                <a:solidFill>
                  <a:srgbClr val="FFFF00"/>
                </a:solidFill>
              </a:rPr>
              <a:t>business opportunity the firm is pursuing </a:t>
            </a:r>
            <a:r>
              <a:rPr lang="en-US" sz="2400" dirty="0">
                <a:solidFill>
                  <a:prstClr val="white"/>
                </a:solidFill>
              </a:rPr>
              <a:t>and how it plans to pursue it</a:t>
            </a:r>
          </a:p>
        </p:txBody>
      </p:sp>
      <p:sp>
        <p:nvSpPr>
          <p:cNvPr id="8" name="Action Button: Back or Previous 5">
            <a:hlinkClick r:id="" action="ppaction://noaction" highlightClick="1"/>
          </p:cNvPr>
          <p:cNvSpPr>
            <a:spLocks noChangeArrowheads="1"/>
          </p:cNvSpPr>
          <p:nvPr/>
        </p:nvSpPr>
        <p:spPr bwMode="auto">
          <a:xfrm>
            <a:off x="8229600" y="6400800"/>
            <a:ext cx="304800" cy="228600"/>
          </a:xfrm>
          <a:prstGeom prst="actionButtonBackPrevious">
            <a:avLst/>
          </a:prstGeom>
          <a:noFill/>
          <a:ln w="9525" algn="ctr">
            <a:solidFill>
              <a:schemeClr val="bg1"/>
            </a:solidFill>
            <a:round/>
            <a:headEnd/>
            <a:tailEnd/>
          </a:ln>
        </p:spPr>
        <p:txBody>
          <a:bodyPr/>
          <a:lstStyle/>
          <a:p>
            <a:pPr algn="ctr"/>
            <a:endParaRPr lang="en-US" dirty="0">
              <a:solidFill>
                <a:prstClr val="white"/>
              </a:solidFill>
            </a:endParaRP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Introduction</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
        <p:nvSpPr>
          <p:cNvPr id="86018" name="AutoShape 2" descr="Image result for business opportunit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86020" name="Picture 4" descr="Image result for business opportunities"/>
          <p:cNvPicPr>
            <a:picLocks noChangeAspect="1" noChangeArrowheads="1"/>
          </p:cNvPicPr>
          <p:nvPr/>
        </p:nvPicPr>
        <p:blipFill>
          <a:blip r:embed="rId3" cstate="print"/>
          <a:srcRect/>
          <a:stretch>
            <a:fillRect/>
          </a:stretch>
        </p:blipFill>
        <p:spPr bwMode="auto">
          <a:xfrm>
            <a:off x="0" y="1143000"/>
            <a:ext cx="4572000" cy="2743200"/>
          </a:xfrm>
          <a:prstGeom prst="rect">
            <a:avLst/>
          </a:prstGeom>
          <a:noFill/>
        </p:spPr>
      </p:pic>
      <p:pic>
        <p:nvPicPr>
          <p:cNvPr id="86022" name="Picture 6" descr="Image result for plan to pursue"/>
          <p:cNvPicPr>
            <a:picLocks noChangeAspect="1" noChangeArrowheads="1"/>
          </p:cNvPicPr>
          <p:nvPr/>
        </p:nvPicPr>
        <p:blipFill>
          <a:blip r:embed="rId4" cstate="print"/>
          <a:srcRect/>
          <a:stretch>
            <a:fillRect/>
          </a:stretch>
        </p:blipFill>
        <p:spPr bwMode="auto">
          <a:xfrm>
            <a:off x="4572000" y="1143000"/>
            <a:ext cx="4572000" cy="2695576"/>
          </a:xfrm>
          <a:prstGeom prst="rect">
            <a:avLst/>
          </a:prstGeom>
          <a:noFill/>
        </p:spPr>
      </p:pic>
    </p:spTree>
    <p:extLst>
      <p:ext uri="{BB962C8B-B14F-4D97-AF65-F5344CB8AC3E}">
        <p14:creationId xmlns:p14="http://schemas.microsoft.com/office/powerpoint/2010/main" val="164297081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a:xfrm>
            <a:off x="0" y="0"/>
            <a:ext cx="9144000" cy="838200"/>
          </a:xfrm>
          <a:solidFill>
            <a:srgbClr val="00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a:latin typeface="+mn-lt"/>
              </a:rPr>
              <a:t>Purpose of a Business Plan</a:t>
            </a:r>
            <a:endParaRPr lang="en-US" sz="3600" b="1" dirty="0">
              <a:solidFill>
                <a:srgbClr val="FFFF00"/>
              </a:solidFill>
              <a:latin typeface="+mn-lt"/>
            </a:endParaRPr>
          </a:p>
        </p:txBody>
      </p:sp>
      <p:sp>
        <p:nvSpPr>
          <p:cNvPr id="12" name="Slide Number Placeholder 3"/>
          <p:cNvSpPr txBox="1">
            <a:spLocks/>
          </p:cNvSpPr>
          <p:nvPr/>
        </p:nvSpPr>
        <p:spPr>
          <a:xfrm>
            <a:off x="8153400" y="6356351"/>
            <a:ext cx="533400" cy="349249"/>
          </a:xfrm>
          <a:prstGeom prst="rect">
            <a:avLst/>
          </a:prstGeom>
        </p:spPr>
        <p:txBody>
          <a:bodyPr vert="horz" lIns="91429" tIns="45714" rIns="91429" bIns="45714" rtlCol="0" anchor="ctr"/>
          <a:lstStyle/>
          <a:p>
            <a:pPr algn="r" defTabSz="914293">
              <a:defRPr/>
            </a:pPr>
            <a:r>
              <a:rPr lang="en-US" sz="2400">
                <a:solidFill>
                  <a:prstClr val="black"/>
                </a:solidFill>
              </a:rPr>
              <a:t> </a:t>
            </a:r>
            <a:fld id="{CF2352C5-7AED-4897-8E30-4FA9197BAA0C}" type="slidenum">
              <a:rPr lang="en-US" sz="2400" smtClean="0">
                <a:solidFill>
                  <a:prstClr val="black"/>
                </a:solidFill>
              </a:rPr>
              <a:pPr algn="r" defTabSz="914293">
                <a:defRPr/>
              </a:pPr>
              <a:t>7</a:t>
            </a:fld>
            <a:endParaRPr lang="en-US" sz="2400" b="1" dirty="0">
              <a:solidFill>
                <a:prstClr val="black"/>
              </a:solidFill>
            </a:endParaRPr>
          </a:p>
        </p:txBody>
      </p:sp>
      <p:sp>
        <p:nvSpPr>
          <p:cNvPr id="8" name="Slide Number Placeholder 5"/>
          <p:cNvSpPr>
            <a:spLocks noGrp="1"/>
          </p:cNvSpPr>
          <p:nvPr>
            <p:ph type="sldNum" sz="quarter" idx="12"/>
          </p:nvPr>
        </p:nvSpPr>
        <p:spPr>
          <a:xfrm>
            <a:off x="8410902" y="6248400"/>
            <a:ext cx="580698" cy="457199"/>
          </a:xfrm>
          <a:noFill/>
        </p:spPr>
        <p:txBody>
          <a:bodyPr/>
          <a:lstStyle/>
          <a:p>
            <a:pPr algn="ctr"/>
            <a:fld id="{C9D662BD-E075-4167-A29B-D0062BD63688}" type="slidenum">
              <a:rPr lang="en-US" smtClean="0">
                <a:solidFill>
                  <a:prstClr val="white">
                    <a:tint val="75000"/>
                  </a:prstClr>
                </a:solidFill>
              </a:rPr>
              <a:pPr algn="ctr"/>
              <a:t>7</a:t>
            </a:fld>
            <a:endParaRPr lang="en-US" dirty="0">
              <a:solidFill>
                <a:prstClr val="white">
                  <a:tint val="75000"/>
                </a:prstClr>
              </a:solidFill>
            </a:endParaRPr>
          </a:p>
        </p:txBody>
      </p:sp>
      <p:graphicFrame>
        <p:nvGraphicFramePr>
          <p:cNvPr id="2" name="Diagram 1">
            <a:extLst>
              <a:ext uri="{FF2B5EF4-FFF2-40B4-BE49-F238E27FC236}">
                <a16:creationId xmlns:a16="http://schemas.microsoft.com/office/drawing/2014/main" id="{4E5FE317-4B79-40C1-94FF-10CCA2114E31}"/>
              </a:ext>
            </a:extLst>
          </p:cNvPr>
          <p:cNvGraphicFramePr/>
          <p:nvPr>
            <p:extLst>
              <p:ext uri="{D42A27DB-BD31-4B8C-83A1-F6EECF244321}">
                <p14:modId xmlns:p14="http://schemas.microsoft.com/office/powerpoint/2010/main" val="3449577405"/>
              </p:ext>
            </p:extLst>
          </p:nvPr>
        </p:nvGraphicFramePr>
        <p:xfrm>
          <a:off x="641293" y="1257300"/>
          <a:ext cx="7861414" cy="4610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252681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a:xfrm>
            <a:off x="0" y="0"/>
            <a:ext cx="9144000" cy="838200"/>
          </a:xfrm>
          <a:solidFill>
            <a:srgbClr val="00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dirty="0">
                <a:latin typeface="+mj-lt"/>
              </a:rPr>
              <a:t>	Reasons for Writing a Business Plan</a:t>
            </a:r>
            <a:endParaRPr lang="en-US" sz="4800" b="1" dirty="0">
              <a:solidFill>
                <a:srgbClr val="FFFF00"/>
              </a:solidFill>
              <a:latin typeface="+mj-lt"/>
            </a:endParaRPr>
          </a:p>
        </p:txBody>
      </p:sp>
      <p:sp>
        <p:nvSpPr>
          <p:cNvPr id="7" name="Bevel 6"/>
          <p:cNvSpPr/>
          <p:nvPr/>
        </p:nvSpPr>
        <p:spPr>
          <a:xfrm>
            <a:off x="76200" y="1752600"/>
            <a:ext cx="4800600" cy="3429000"/>
          </a:xfrm>
          <a:prstGeom prst="bevel">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just"/>
            <a:r>
              <a:rPr lang="en-US" sz="2800" dirty="0">
                <a:solidFill>
                  <a:prstClr val="white"/>
                </a:solidFill>
              </a:rPr>
              <a:t>Two primary reasons for writing a business plan.</a:t>
            </a:r>
            <a:endParaRPr lang="en-US" altLang="en-US" sz="2800" dirty="0">
              <a:solidFill>
                <a:prstClr val="white"/>
              </a:solidFill>
            </a:endParaRPr>
          </a:p>
          <a:p>
            <a:pPr marL="914359" lvl="1" indent="-457200" algn="just">
              <a:lnSpc>
                <a:spcPct val="120000"/>
              </a:lnSpc>
              <a:spcBef>
                <a:spcPct val="20000"/>
              </a:spcBef>
              <a:buFont typeface="Arial" panose="020B0604020202020204" pitchFamily="34" charset="0"/>
              <a:buChar char="•"/>
            </a:pPr>
            <a:r>
              <a:rPr lang="en-US" sz="2800" dirty="0">
                <a:solidFill>
                  <a:srgbClr val="FFFF00"/>
                </a:solidFill>
              </a:rPr>
              <a:t>Internal Reason</a:t>
            </a:r>
          </a:p>
          <a:p>
            <a:pPr marL="914359" lvl="1" indent="-457200" algn="just">
              <a:lnSpc>
                <a:spcPct val="120000"/>
              </a:lnSpc>
              <a:spcBef>
                <a:spcPct val="20000"/>
              </a:spcBef>
              <a:buFont typeface="Arial" panose="020B0604020202020204" pitchFamily="34" charset="0"/>
              <a:buChar char="•"/>
            </a:pPr>
            <a:r>
              <a:rPr lang="en-US" sz="2800" dirty="0">
                <a:solidFill>
                  <a:prstClr val="white"/>
                </a:solidFill>
              </a:rPr>
              <a:t>External Reason</a:t>
            </a:r>
            <a:endParaRPr lang="en-US" altLang="en-US" sz="2800" dirty="0">
              <a:solidFill>
                <a:prstClr val="white"/>
              </a:solidFill>
            </a:endParaRPr>
          </a:p>
          <a:p>
            <a:pPr algn="just">
              <a:lnSpc>
                <a:spcPct val="120000"/>
              </a:lnSpc>
              <a:spcBef>
                <a:spcPct val="20000"/>
              </a:spcBef>
            </a:pPr>
            <a:endParaRPr lang="en-US" sz="2400" dirty="0">
              <a:solidFill>
                <a:srgbClr val="FFFF00"/>
              </a:solidFill>
            </a:endParaRPr>
          </a:p>
        </p:txBody>
      </p:sp>
      <p:pic>
        <p:nvPicPr>
          <p:cNvPr id="11"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
        <p:nvSpPr>
          <p:cNvPr id="12" name="Slide Number Placeholder 3"/>
          <p:cNvSpPr txBox="1">
            <a:spLocks/>
          </p:cNvSpPr>
          <p:nvPr/>
        </p:nvSpPr>
        <p:spPr>
          <a:xfrm>
            <a:off x="8153400" y="6356351"/>
            <a:ext cx="533400" cy="349249"/>
          </a:xfrm>
          <a:prstGeom prst="rect">
            <a:avLst/>
          </a:prstGeom>
        </p:spPr>
        <p:txBody>
          <a:bodyPr vert="horz" lIns="91429" tIns="45714" rIns="91429" bIns="45714" rtlCol="0" anchor="ctr"/>
          <a:lstStyle/>
          <a:p>
            <a:pPr algn="r" defTabSz="914293">
              <a:defRPr/>
            </a:pPr>
            <a:r>
              <a:rPr lang="en-US" sz="2400">
                <a:solidFill>
                  <a:prstClr val="black"/>
                </a:solidFill>
              </a:rPr>
              <a:t> </a:t>
            </a:r>
            <a:fld id="{CF2352C5-7AED-4897-8E30-4FA9197BAA0C}" type="slidenum">
              <a:rPr lang="en-US" sz="2400" smtClean="0">
                <a:solidFill>
                  <a:prstClr val="black"/>
                </a:solidFill>
              </a:rPr>
              <a:pPr algn="r" defTabSz="914293">
                <a:defRPr/>
              </a:pPr>
              <a:t>8</a:t>
            </a:fld>
            <a:endParaRPr lang="en-US" sz="2400" b="1" dirty="0">
              <a:solidFill>
                <a:prstClr val="black"/>
              </a:solidFill>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7498" y="3409122"/>
            <a:ext cx="4173128" cy="2780347"/>
          </a:xfrm>
          <a:prstGeom prst="rect">
            <a:avLst/>
          </a:prstGeom>
        </p:spPr>
      </p:pic>
      <p:sp>
        <p:nvSpPr>
          <p:cNvPr id="8" name="Slide Number Placeholder 5"/>
          <p:cNvSpPr>
            <a:spLocks noGrp="1"/>
          </p:cNvSpPr>
          <p:nvPr>
            <p:ph type="sldNum" sz="quarter" idx="12"/>
          </p:nvPr>
        </p:nvSpPr>
        <p:spPr>
          <a:xfrm>
            <a:off x="8458200" y="6248400"/>
            <a:ext cx="580698" cy="457199"/>
          </a:xfrm>
          <a:noFill/>
        </p:spPr>
        <p:txBody>
          <a:bodyPr/>
          <a:lstStyle/>
          <a:p>
            <a:pPr algn="ctr"/>
            <a:fld id="{C9D662BD-E075-4167-A29B-D0062BD63688}" type="slidenum">
              <a:rPr lang="en-US" smtClean="0">
                <a:solidFill>
                  <a:prstClr val="white">
                    <a:tint val="75000"/>
                  </a:prstClr>
                </a:solidFill>
              </a:rPr>
              <a:pPr algn="ctr"/>
              <a:t>8</a:t>
            </a:fld>
            <a:endParaRPr lang="en-US" dirty="0">
              <a:solidFill>
                <a:prstClr val="white">
                  <a:tint val="75000"/>
                </a:prstClr>
              </a:solidFill>
            </a:endParaRPr>
          </a:p>
        </p:txBody>
      </p:sp>
    </p:spTree>
    <p:extLst>
      <p:ext uri="{BB962C8B-B14F-4D97-AF65-F5344CB8AC3E}">
        <p14:creationId xmlns:p14="http://schemas.microsoft.com/office/powerpoint/2010/main" val="128308393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a:xfrm>
            <a:off x="0" y="0"/>
            <a:ext cx="9144000" cy="838200"/>
          </a:xfrm>
          <a:solidFill>
            <a:srgbClr val="00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dirty="0">
                <a:latin typeface="+mj-lt"/>
              </a:rPr>
              <a:t>	Internal Reasons</a:t>
            </a:r>
            <a:endParaRPr lang="en-US" sz="4800" b="1" dirty="0">
              <a:solidFill>
                <a:srgbClr val="FFFF00"/>
              </a:solidFill>
              <a:latin typeface="+mj-lt"/>
            </a:endParaRPr>
          </a:p>
        </p:txBody>
      </p:sp>
      <p:sp>
        <p:nvSpPr>
          <p:cNvPr id="7" name="Bevel 6"/>
          <p:cNvSpPr/>
          <p:nvPr/>
        </p:nvSpPr>
        <p:spPr>
          <a:xfrm>
            <a:off x="152400" y="1814228"/>
            <a:ext cx="4648200" cy="3138771"/>
          </a:xfrm>
          <a:prstGeom prst="bevel">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ct val="50000"/>
              </a:spcBef>
            </a:pPr>
            <a:r>
              <a:rPr lang="en-US" altLang="en-US" sz="2400" dirty="0">
                <a:solidFill>
                  <a:prstClr val="white"/>
                </a:solidFill>
              </a:rPr>
              <a:t>	A clearly written business  plan helps the employees of a firm operate in synergy  and move forward in a consistent and purposeful  manners</a:t>
            </a:r>
          </a:p>
        </p:txBody>
      </p:sp>
      <p:pic>
        <p:nvPicPr>
          <p:cNvPr id="11"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
        <p:nvSpPr>
          <p:cNvPr id="12" name="Slide Number Placeholder 3"/>
          <p:cNvSpPr txBox="1">
            <a:spLocks/>
          </p:cNvSpPr>
          <p:nvPr/>
        </p:nvSpPr>
        <p:spPr>
          <a:xfrm>
            <a:off x="8153400" y="6356351"/>
            <a:ext cx="533400" cy="349249"/>
          </a:xfrm>
          <a:prstGeom prst="rect">
            <a:avLst/>
          </a:prstGeom>
        </p:spPr>
        <p:txBody>
          <a:bodyPr vert="horz" lIns="91429" tIns="45714" rIns="91429" bIns="45714" rtlCol="0" anchor="ctr"/>
          <a:lstStyle/>
          <a:p>
            <a:pPr algn="r" defTabSz="914293">
              <a:defRPr/>
            </a:pPr>
            <a:r>
              <a:rPr lang="en-US" sz="2400">
                <a:solidFill>
                  <a:prstClr val="black"/>
                </a:solidFill>
              </a:rPr>
              <a:t> </a:t>
            </a:r>
            <a:fld id="{CF2352C5-7AED-4897-8E30-4FA9197BAA0C}" type="slidenum">
              <a:rPr lang="en-US" sz="2400" smtClean="0">
                <a:solidFill>
                  <a:prstClr val="black"/>
                </a:solidFill>
              </a:rPr>
              <a:pPr algn="r" defTabSz="914293">
                <a:defRPr/>
              </a:pPr>
              <a:t>9</a:t>
            </a:fld>
            <a:endParaRPr lang="en-US" sz="2400" b="1" dirty="0">
              <a:solidFill>
                <a:prstClr val="black"/>
              </a:solidFill>
            </a:endParaRPr>
          </a:p>
        </p:txBody>
      </p:sp>
      <p:pic>
        <p:nvPicPr>
          <p:cNvPr id="2050" name="Picture 2" descr="Related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96051" y="1814228"/>
            <a:ext cx="4185028" cy="3138771"/>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5"/>
          <p:cNvSpPr>
            <a:spLocks noGrp="1"/>
          </p:cNvSpPr>
          <p:nvPr>
            <p:ph type="sldNum" sz="quarter" idx="12"/>
          </p:nvPr>
        </p:nvSpPr>
        <p:spPr>
          <a:xfrm>
            <a:off x="8458200" y="6248400"/>
            <a:ext cx="580698" cy="457199"/>
          </a:xfrm>
          <a:noFill/>
        </p:spPr>
        <p:txBody>
          <a:bodyPr/>
          <a:lstStyle/>
          <a:p>
            <a:pPr algn="ctr"/>
            <a:fld id="{C9D662BD-E075-4167-A29B-D0062BD63688}" type="slidenum">
              <a:rPr lang="en-US" smtClean="0">
                <a:solidFill>
                  <a:prstClr val="white">
                    <a:tint val="75000"/>
                  </a:prstClr>
                </a:solidFill>
              </a:rPr>
              <a:pPr algn="ctr"/>
              <a:t>9</a:t>
            </a:fld>
            <a:endParaRPr lang="en-US" dirty="0">
              <a:solidFill>
                <a:prstClr val="white">
                  <a:tint val="75000"/>
                </a:prstClr>
              </a:solidFill>
            </a:endParaRPr>
          </a:p>
        </p:txBody>
      </p:sp>
    </p:spTree>
    <p:extLst>
      <p:ext uri="{BB962C8B-B14F-4D97-AF65-F5344CB8AC3E}">
        <p14:creationId xmlns:p14="http://schemas.microsoft.com/office/powerpoint/2010/main" val="114982474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a:xfrm>
            <a:off x="0" y="0"/>
            <a:ext cx="9144000" cy="838200"/>
          </a:xfrm>
          <a:solidFill>
            <a:srgbClr val="00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ormAutofit/>
          </a:bodyPr>
          <a:lstStyle/>
          <a:p>
            <a:r>
              <a:rPr lang="en-US" sz="3600" dirty="0">
                <a:latin typeface="+mj-lt"/>
              </a:rPr>
              <a:t>	External Reasons</a:t>
            </a:r>
            <a:endParaRPr lang="en-US" sz="4800" b="1" dirty="0">
              <a:solidFill>
                <a:srgbClr val="FFFF00"/>
              </a:solidFill>
              <a:latin typeface="+mj-lt"/>
            </a:endParaRPr>
          </a:p>
        </p:txBody>
      </p:sp>
      <p:sp>
        <p:nvSpPr>
          <p:cNvPr id="7" name="Bevel 6"/>
          <p:cNvSpPr/>
          <p:nvPr/>
        </p:nvSpPr>
        <p:spPr>
          <a:xfrm>
            <a:off x="152400" y="1920420"/>
            <a:ext cx="3886200" cy="3505200"/>
          </a:xfrm>
          <a:prstGeom prst="bevel">
            <a:avLst>
              <a:gd name="adj" fmla="val 0"/>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spcBef>
                <a:spcPct val="50000"/>
              </a:spcBef>
            </a:pPr>
            <a:r>
              <a:rPr lang="en-US" altLang="en-US" sz="2400" dirty="0">
                <a:solidFill>
                  <a:prstClr val="white"/>
                </a:solidFill>
              </a:rPr>
              <a:t>   A firm’s business plan must make the case that the firm is a good use of an investor’s funds or the attention of others.</a:t>
            </a:r>
          </a:p>
        </p:txBody>
      </p:sp>
      <p:pic>
        <p:nvPicPr>
          <p:cNvPr id="11"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
        <p:nvSpPr>
          <p:cNvPr id="12" name="Slide Number Placeholder 3"/>
          <p:cNvSpPr txBox="1">
            <a:spLocks/>
          </p:cNvSpPr>
          <p:nvPr/>
        </p:nvSpPr>
        <p:spPr>
          <a:xfrm>
            <a:off x="8153400" y="6356351"/>
            <a:ext cx="533400" cy="349249"/>
          </a:xfrm>
          <a:prstGeom prst="rect">
            <a:avLst/>
          </a:prstGeom>
        </p:spPr>
        <p:txBody>
          <a:bodyPr vert="horz" lIns="91429" tIns="45714" rIns="91429" bIns="45714" rtlCol="0" anchor="ctr"/>
          <a:lstStyle/>
          <a:p>
            <a:pPr algn="r" defTabSz="914293">
              <a:defRPr/>
            </a:pPr>
            <a:r>
              <a:rPr lang="en-US" sz="2400">
                <a:solidFill>
                  <a:prstClr val="black"/>
                </a:solidFill>
              </a:rPr>
              <a:t> </a:t>
            </a:r>
            <a:fld id="{CF2352C5-7AED-4897-8E30-4FA9197BAA0C}" type="slidenum">
              <a:rPr lang="en-US" sz="2400" smtClean="0">
                <a:solidFill>
                  <a:prstClr val="black"/>
                </a:solidFill>
              </a:rPr>
              <a:pPr algn="r" defTabSz="914293">
                <a:defRPr/>
              </a:pPr>
              <a:t>10</a:t>
            </a:fld>
            <a:endParaRPr lang="en-US" sz="2400" b="1" dirty="0">
              <a:solidFill>
                <a:prstClr val="black"/>
              </a:solidFill>
            </a:endParaRPr>
          </a:p>
        </p:txBody>
      </p:sp>
      <p:pic>
        <p:nvPicPr>
          <p:cNvPr id="1026" name="Picture 2" descr="https://thumbs.dreamstime.com/z/young-asian-man-presenting-business-plan-entrepreneur-new-project-audience-taking-picture-cellphones-71023795.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8354"/>
          <a:stretch/>
        </p:blipFill>
        <p:spPr bwMode="auto">
          <a:xfrm>
            <a:off x="4226165" y="1920420"/>
            <a:ext cx="4668670" cy="3505200"/>
          </a:xfrm>
          <a:prstGeom prst="rect">
            <a:avLst/>
          </a:prstGeom>
          <a:noFill/>
          <a:extLst>
            <a:ext uri="{909E8E84-426E-40DD-AFC4-6F175D3DCCD1}">
              <a14:hiddenFill xmlns:a14="http://schemas.microsoft.com/office/drawing/2010/main">
                <a:solidFill>
                  <a:srgbClr val="FFFFFF"/>
                </a:solidFill>
              </a14:hiddenFill>
            </a:ext>
          </a:extLst>
        </p:spPr>
      </p:pic>
      <p:sp>
        <p:nvSpPr>
          <p:cNvPr id="8" name="Slide Number Placeholder 5"/>
          <p:cNvSpPr>
            <a:spLocks noGrp="1"/>
          </p:cNvSpPr>
          <p:nvPr>
            <p:ph type="sldNum" sz="quarter" idx="12"/>
          </p:nvPr>
        </p:nvSpPr>
        <p:spPr>
          <a:xfrm>
            <a:off x="8458200" y="6248400"/>
            <a:ext cx="580698" cy="457199"/>
          </a:xfrm>
          <a:noFill/>
        </p:spPr>
        <p:txBody>
          <a:bodyPr/>
          <a:lstStyle/>
          <a:p>
            <a:pPr algn="ctr"/>
            <a:fld id="{C9D662BD-E075-4167-A29B-D0062BD63688}" type="slidenum">
              <a:rPr lang="en-US" smtClean="0">
                <a:solidFill>
                  <a:prstClr val="white">
                    <a:tint val="75000"/>
                  </a:prstClr>
                </a:solidFill>
              </a:rPr>
              <a:pPr algn="ctr"/>
              <a:t>10</a:t>
            </a:fld>
            <a:endParaRPr lang="en-US" dirty="0">
              <a:solidFill>
                <a:prstClr val="white">
                  <a:tint val="75000"/>
                </a:prstClr>
              </a:solidFill>
            </a:endParaRPr>
          </a:p>
        </p:txBody>
      </p:sp>
    </p:spTree>
    <p:extLst>
      <p:ext uri="{BB962C8B-B14F-4D97-AF65-F5344CB8AC3E}">
        <p14:creationId xmlns:p14="http://schemas.microsoft.com/office/powerpoint/2010/main" val="278033223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 Business Fails?</a:t>
            </a:r>
          </a:p>
        </p:txBody>
      </p:sp>
      <p:sp>
        <p:nvSpPr>
          <p:cNvPr id="3" name="Slide Number Placeholder 2"/>
          <p:cNvSpPr>
            <a:spLocks noGrp="1"/>
          </p:cNvSpPr>
          <p:nvPr>
            <p:ph type="sldNum" sz="quarter" idx="12"/>
          </p:nvPr>
        </p:nvSpPr>
        <p:spPr/>
        <p:txBody>
          <a:bodyPr/>
          <a:lstStyle/>
          <a:p>
            <a:fld id="{05655E53-8D5A-4988-9C35-5015956B5E8D}" type="slidenum">
              <a:rPr lang="en-US" smtClean="0">
                <a:solidFill>
                  <a:prstClr val="white">
                    <a:tint val="75000"/>
                  </a:prstClr>
                </a:solidFill>
              </a:rPr>
              <a:pPr/>
              <a:t>11</a:t>
            </a:fld>
            <a:endParaRPr lang="en-US">
              <a:solidFill>
                <a:prstClr val="white">
                  <a:tint val="75000"/>
                </a:prstClr>
              </a:solidFill>
            </a:endParaRPr>
          </a:p>
        </p:txBody>
      </p:sp>
      <p:sp>
        <p:nvSpPr>
          <p:cNvPr id="4" name="Rectangle 276"/>
          <p:cNvSpPr>
            <a:spLocks noChangeArrowheads="1"/>
          </p:cNvSpPr>
          <p:nvPr/>
        </p:nvSpPr>
        <p:spPr bwMode="auto">
          <a:xfrm>
            <a:off x="206324" y="762000"/>
            <a:ext cx="8686800" cy="5544275"/>
          </a:xfrm>
          <a:prstGeom prst="rect">
            <a:avLst/>
          </a:prstGeom>
          <a:solidFill>
            <a:srgbClr val="002060"/>
          </a:solidFill>
          <a:ln>
            <a:noFill/>
          </a:ln>
        </p:spPr>
        <p:txBody>
          <a:bodyPr wrap="square" anchor="ctr">
            <a:spAutoFit/>
          </a:bodyPr>
          <a:lstStyle/>
          <a:p>
            <a:pPr marL="463550" lvl="1" indent="-463550" algn="just">
              <a:lnSpc>
                <a:spcPct val="150000"/>
              </a:lnSpc>
              <a:spcBef>
                <a:spcPts val="600"/>
              </a:spcBef>
              <a:spcAft>
                <a:spcPts val="600"/>
              </a:spcAft>
              <a:buFont typeface="Arial" pitchFamily="34" charset="0"/>
              <a:buChar char="•"/>
              <a:defRPr/>
            </a:pPr>
            <a:endParaRPr lang="en-US" sz="2400" dirty="0"/>
          </a:p>
          <a:p>
            <a:pPr marL="463550" lvl="1" indent="-463550" algn="just">
              <a:lnSpc>
                <a:spcPct val="150000"/>
              </a:lnSpc>
              <a:spcBef>
                <a:spcPts val="600"/>
              </a:spcBef>
              <a:spcAft>
                <a:spcPts val="600"/>
              </a:spcAft>
              <a:buFont typeface="Arial" pitchFamily="34" charset="0"/>
              <a:buChar char="•"/>
              <a:defRPr/>
            </a:pPr>
            <a:r>
              <a:rPr lang="en-US" sz="2400" dirty="0"/>
              <a:t>Poor Customer Services</a:t>
            </a:r>
          </a:p>
          <a:p>
            <a:pPr marL="463550" lvl="1" indent="-463550" algn="just">
              <a:lnSpc>
                <a:spcPct val="150000"/>
              </a:lnSpc>
              <a:spcBef>
                <a:spcPts val="600"/>
              </a:spcBef>
              <a:spcAft>
                <a:spcPts val="600"/>
              </a:spcAft>
              <a:buFont typeface="Arial" pitchFamily="34" charset="0"/>
              <a:buChar char="•"/>
              <a:defRPr/>
            </a:pPr>
            <a:r>
              <a:rPr lang="en-US" sz="2400"/>
              <a:t>Poor Marketing</a:t>
            </a:r>
            <a:endParaRPr lang="en-US" sz="2400" dirty="0"/>
          </a:p>
          <a:p>
            <a:pPr marL="463550" lvl="1" indent="-463550" algn="just">
              <a:lnSpc>
                <a:spcPct val="150000"/>
              </a:lnSpc>
              <a:spcBef>
                <a:spcPts val="600"/>
              </a:spcBef>
              <a:spcAft>
                <a:spcPts val="600"/>
              </a:spcAft>
              <a:buFont typeface="Arial" pitchFamily="34" charset="0"/>
              <a:buChar char="•"/>
              <a:defRPr/>
            </a:pPr>
            <a:r>
              <a:rPr lang="en-US" sz="2400" dirty="0"/>
              <a:t>Inadequate product</a:t>
            </a:r>
          </a:p>
          <a:p>
            <a:pPr marL="463550" lvl="1" indent="-463550" algn="just">
              <a:lnSpc>
                <a:spcPct val="150000"/>
              </a:lnSpc>
              <a:spcBef>
                <a:spcPts val="600"/>
              </a:spcBef>
              <a:spcAft>
                <a:spcPts val="600"/>
              </a:spcAft>
              <a:buFont typeface="Arial" pitchFamily="34" charset="0"/>
              <a:buChar char="•"/>
              <a:defRPr/>
            </a:pPr>
            <a:r>
              <a:rPr lang="en-US" sz="2400" dirty="0"/>
              <a:t>Answer to above failure is: Business Plan</a:t>
            </a:r>
          </a:p>
          <a:p>
            <a:pPr marL="463550" lvl="1" indent="-463550" algn="just">
              <a:lnSpc>
                <a:spcPct val="150000"/>
              </a:lnSpc>
              <a:spcBef>
                <a:spcPts val="600"/>
              </a:spcBef>
              <a:spcAft>
                <a:spcPts val="600"/>
              </a:spcAft>
              <a:buFont typeface="Arial" pitchFamily="34" charset="0"/>
              <a:buChar char="•"/>
              <a:defRPr/>
            </a:pPr>
            <a:r>
              <a:rPr lang="en-US" sz="2400" dirty="0"/>
              <a:t>Business Plan; </a:t>
            </a:r>
            <a:r>
              <a:rPr lang="en-US" sz="2400" dirty="0">
                <a:solidFill>
                  <a:srgbClr val="FF0000"/>
                </a:solidFill>
              </a:rPr>
              <a:t>GOALS </a:t>
            </a:r>
            <a:r>
              <a:rPr lang="en-US" sz="2400" dirty="0"/>
              <a:t>….. …. ..</a:t>
            </a:r>
            <a:r>
              <a:rPr lang="en-US" sz="2400" dirty="0">
                <a:solidFill>
                  <a:srgbClr val="FF0000"/>
                </a:solidFill>
              </a:rPr>
              <a:t>  PLAN </a:t>
            </a:r>
            <a:r>
              <a:rPr lang="en-US" sz="2000" dirty="0">
                <a:solidFill>
                  <a:srgbClr val="FFFFFF"/>
                </a:solidFill>
              </a:rPr>
              <a:t>(WAYS HOW TO ACHIEVE)</a:t>
            </a:r>
          </a:p>
          <a:p>
            <a:pPr marL="463550" lvl="1" indent="-463550" algn="just">
              <a:lnSpc>
                <a:spcPct val="150000"/>
              </a:lnSpc>
              <a:spcBef>
                <a:spcPts val="600"/>
              </a:spcBef>
              <a:spcAft>
                <a:spcPts val="600"/>
              </a:spcAft>
              <a:defRPr/>
            </a:pPr>
            <a:endParaRPr lang="en-US" sz="2400" dirty="0"/>
          </a:p>
          <a:p>
            <a:pPr marL="463550" lvl="1" indent="-463550" algn="just">
              <a:lnSpc>
                <a:spcPct val="150000"/>
              </a:lnSpc>
              <a:spcBef>
                <a:spcPts val="600"/>
              </a:spcBef>
              <a:spcAft>
                <a:spcPts val="600"/>
              </a:spcAft>
              <a:buFont typeface="Arial" pitchFamily="34" charset="0"/>
              <a:buChar char="•"/>
              <a:defRPr/>
            </a:pPr>
            <a:endParaRPr lang="en-US" sz="2400" dirty="0"/>
          </a:p>
        </p:txBody>
      </p:sp>
    </p:spTree>
    <p:extLst>
      <p:ext uri="{BB962C8B-B14F-4D97-AF65-F5344CB8AC3E}">
        <p14:creationId xmlns:p14="http://schemas.microsoft.com/office/powerpoint/2010/main" val="398895596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5300" name="Slide Number Placeholder 5"/>
          <p:cNvSpPr>
            <a:spLocks noGrp="1"/>
          </p:cNvSpPr>
          <p:nvPr>
            <p:ph type="sldNum" sz="quarter" idx="12"/>
          </p:nvPr>
        </p:nvSpPr>
        <p:spPr>
          <a:xfrm>
            <a:off x="8534400" y="6248400"/>
            <a:ext cx="580698" cy="457199"/>
          </a:xfrm>
          <a:noFill/>
        </p:spPr>
        <p:txBody>
          <a:bodyPr/>
          <a:lstStyle/>
          <a:p>
            <a:pPr algn="ctr"/>
            <a:fld id="{C9D662BD-E075-4167-A29B-D0062BD63688}" type="slidenum">
              <a:rPr lang="en-US" smtClean="0"/>
              <a:pPr algn="ctr"/>
              <a:t>12</a:t>
            </a:fld>
            <a:endParaRPr lang="en-US" dirty="0"/>
          </a:p>
        </p:txBody>
      </p:sp>
      <p:sp>
        <p:nvSpPr>
          <p:cNvPr id="5" name="Rectangle 276"/>
          <p:cNvSpPr>
            <a:spLocks noChangeArrowheads="1"/>
          </p:cNvSpPr>
          <p:nvPr/>
        </p:nvSpPr>
        <p:spPr bwMode="auto">
          <a:xfrm>
            <a:off x="152400" y="1128221"/>
            <a:ext cx="8686800" cy="2175980"/>
          </a:xfrm>
          <a:prstGeom prst="rect">
            <a:avLst/>
          </a:prstGeom>
          <a:solidFill>
            <a:srgbClr val="002060"/>
          </a:solidFill>
          <a:ln>
            <a:noFill/>
          </a:ln>
        </p:spPr>
        <p:txBody>
          <a:bodyPr wrap="square" anchor="ctr">
            <a:spAutoFit/>
          </a:bodyPr>
          <a:lstStyle/>
          <a:p>
            <a:pPr marL="463550" lvl="1" indent="-463550" algn="just">
              <a:lnSpc>
                <a:spcPct val="120000"/>
              </a:lnSpc>
              <a:spcBef>
                <a:spcPts val="600"/>
              </a:spcBef>
              <a:spcAft>
                <a:spcPts val="600"/>
              </a:spcAft>
              <a:buFont typeface="Arial" pitchFamily="34" charset="0"/>
              <a:buChar char="•"/>
              <a:defRPr/>
            </a:pPr>
            <a:r>
              <a:rPr lang="en-US" sz="2400" dirty="0"/>
              <a:t>Clear &amp; concise information on all the aspects of the venture</a:t>
            </a:r>
          </a:p>
          <a:p>
            <a:pPr marL="463550" lvl="1" indent="-463550" algn="just">
              <a:lnSpc>
                <a:spcPct val="120000"/>
              </a:lnSpc>
              <a:spcBef>
                <a:spcPts val="600"/>
              </a:spcBef>
              <a:spcAft>
                <a:spcPts val="600"/>
              </a:spcAft>
              <a:buFont typeface="Arial" pitchFamily="34" charset="0"/>
              <a:buChar char="•"/>
              <a:defRPr/>
            </a:pPr>
            <a:r>
              <a:rPr lang="en-US" sz="2400" dirty="0"/>
              <a:t>Long enough to provide sufficient information yet short enough to maintain reader interest</a:t>
            </a:r>
          </a:p>
          <a:p>
            <a:pPr marL="463550" lvl="1" indent="-463550" algn="just">
              <a:lnSpc>
                <a:spcPct val="120000"/>
              </a:lnSpc>
              <a:spcBef>
                <a:spcPts val="600"/>
              </a:spcBef>
              <a:spcAft>
                <a:spcPts val="600"/>
              </a:spcAft>
              <a:buFont typeface="Arial" pitchFamily="34" charset="0"/>
              <a:buChar char="•"/>
              <a:defRPr/>
            </a:pPr>
            <a:r>
              <a:rPr lang="en-US" sz="2400" dirty="0"/>
              <a:t>For most plans, 25 to 35 pages is sufficient</a:t>
            </a: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Content of the Business Plan</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Tree>
    <p:extLst>
      <p:ext uri="{BB962C8B-B14F-4D97-AF65-F5344CB8AC3E}">
        <p14:creationId xmlns:p14="http://schemas.microsoft.com/office/powerpoint/2010/main" val="177918973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5300" name="Slide Number Placeholder 5"/>
          <p:cNvSpPr>
            <a:spLocks noGrp="1"/>
          </p:cNvSpPr>
          <p:nvPr>
            <p:ph type="sldNum" sz="quarter" idx="12"/>
          </p:nvPr>
        </p:nvSpPr>
        <p:spPr>
          <a:xfrm>
            <a:off x="8534400" y="6248400"/>
            <a:ext cx="580698" cy="457199"/>
          </a:xfrm>
          <a:noFill/>
        </p:spPr>
        <p:txBody>
          <a:bodyPr/>
          <a:lstStyle/>
          <a:p>
            <a:pPr algn="ctr"/>
            <a:fld id="{C9D662BD-E075-4167-A29B-D0062BD63688}" type="slidenum">
              <a:rPr lang="en-US" smtClean="0"/>
              <a:pPr algn="ctr"/>
              <a:t>13</a:t>
            </a:fld>
            <a:endParaRPr lang="en-US" dirty="0"/>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Types of Business Plans</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grpSp>
        <p:nvGrpSpPr>
          <p:cNvPr id="14" name="Group 13"/>
          <p:cNvGrpSpPr/>
          <p:nvPr/>
        </p:nvGrpSpPr>
        <p:grpSpPr>
          <a:xfrm>
            <a:off x="152400" y="1219200"/>
            <a:ext cx="8839200" cy="4572000"/>
            <a:chOff x="304800" y="2133600"/>
            <a:chExt cx="8229600" cy="3200400"/>
          </a:xfrm>
        </p:grpSpPr>
        <p:pic>
          <p:nvPicPr>
            <p:cNvPr id="11" name="Picture 7"/>
            <p:cNvPicPr>
              <a:picLocks noChangeAspect="1" noChangeArrowheads="1"/>
            </p:cNvPicPr>
            <p:nvPr/>
          </p:nvPicPr>
          <p:blipFill>
            <a:blip r:embed="rId3" cstate="print"/>
            <a:srcRect l="36786" t="2273" r="37587" b="2273"/>
            <a:stretch>
              <a:fillRect/>
            </a:stretch>
          </p:blipFill>
          <p:spPr bwMode="auto">
            <a:xfrm>
              <a:off x="3048000" y="2133600"/>
              <a:ext cx="2743200" cy="3200400"/>
            </a:xfrm>
            <a:prstGeom prst="rect">
              <a:avLst/>
            </a:prstGeom>
            <a:noFill/>
            <a:ln w="9525">
              <a:noFill/>
              <a:miter lim="800000"/>
              <a:headEnd/>
              <a:tailEnd/>
            </a:ln>
          </p:spPr>
        </p:pic>
        <p:grpSp>
          <p:nvGrpSpPr>
            <p:cNvPr id="13" name="Group 12"/>
            <p:cNvGrpSpPr/>
            <p:nvPr/>
          </p:nvGrpSpPr>
          <p:grpSpPr>
            <a:xfrm>
              <a:off x="304800" y="2133600"/>
              <a:ext cx="8229600" cy="3200400"/>
              <a:chOff x="304800" y="2133600"/>
              <a:chExt cx="8229600" cy="3200400"/>
            </a:xfrm>
          </p:grpSpPr>
          <p:pic>
            <p:nvPicPr>
              <p:cNvPr id="10" name="Picture 7"/>
              <p:cNvPicPr>
                <a:picLocks noChangeAspect="1" noChangeArrowheads="1"/>
              </p:cNvPicPr>
              <p:nvPr/>
            </p:nvPicPr>
            <p:blipFill>
              <a:blip r:embed="rId3" cstate="print"/>
              <a:srcRect l="73518" t="2273" r="854" b="2273"/>
              <a:stretch>
                <a:fillRect/>
              </a:stretch>
            </p:blipFill>
            <p:spPr bwMode="auto">
              <a:xfrm>
                <a:off x="5791200" y="2133600"/>
                <a:ext cx="2743200" cy="3200400"/>
              </a:xfrm>
              <a:prstGeom prst="rect">
                <a:avLst/>
              </a:prstGeom>
              <a:noFill/>
              <a:ln w="9525">
                <a:noFill/>
                <a:miter lim="800000"/>
                <a:headEnd/>
                <a:tailEnd/>
              </a:ln>
            </p:spPr>
          </p:pic>
          <p:pic>
            <p:nvPicPr>
              <p:cNvPr id="12" name="Picture 7"/>
              <p:cNvPicPr>
                <a:picLocks noChangeAspect="1" noChangeArrowheads="1"/>
              </p:cNvPicPr>
              <p:nvPr/>
            </p:nvPicPr>
            <p:blipFill>
              <a:blip r:embed="rId3" cstate="print"/>
              <a:srcRect l="908" t="2273" r="73465" b="2273"/>
              <a:stretch>
                <a:fillRect/>
              </a:stretch>
            </p:blipFill>
            <p:spPr bwMode="auto">
              <a:xfrm>
                <a:off x="304800" y="2133600"/>
                <a:ext cx="2743200" cy="3200400"/>
              </a:xfrm>
              <a:prstGeom prst="rect">
                <a:avLst/>
              </a:prstGeom>
              <a:noFill/>
              <a:ln w="9525">
                <a:noFill/>
                <a:miter lim="800000"/>
                <a:headEnd/>
                <a:tailEnd/>
              </a:ln>
            </p:spPr>
          </p:pic>
        </p:grpSp>
      </p:grpSp>
    </p:spTree>
    <p:extLst>
      <p:ext uri="{BB962C8B-B14F-4D97-AF65-F5344CB8AC3E}">
        <p14:creationId xmlns:p14="http://schemas.microsoft.com/office/powerpoint/2010/main" val="277682509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5300" name="Slide Number Placeholder 5"/>
          <p:cNvSpPr>
            <a:spLocks noGrp="1"/>
          </p:cNvSpPr>
          <p:nvPr>
            <p:ph type="sldNum" sz="quarter" idx="12"/>
          </p:nvPr>
        </p:nvSpPr>
        <p:spPr>
          <a:xfrm>
            <a:off x="8534400" y="6248400"/>
            <a:ext cx="580698" cy="457199"/>
          </a:xfrm>
          <a:noFill/>
        </p:spPr>
        <p:txBody>
          <a:bodyPr/>
          <a:lstStyle/>
          <a:p>
            <a:pPr algn="ctr"/>
            <a:fld id="{C9D662BD-E075-4167-A29B-D0062BD63688}" type="slidenum">
              <a:rPr lang="en-US" smtClean="0"/>
              <a:pPr algn="ctr"/>
              <a:t>14</a:t>
            </a:fld>
            <a:endParaRPr lang="en-US" dirty="0"/>
          </a:p>
        </p:txBody>
      </p:sp>
      <p:sp>
        <p:nvSpPr>
          <p:cNvPr id="5" name="Rectangle 276"/>
          <p:cNvSpPr>
            <a:spLocks noChangeArrowheads="1"/>
          </p:cNvSpPr>
          <p:nvPr/>
        </p:nvSpPr>
        <p:spPr bwMode="auto">
          <a:xfrm>
            <a:off x="152400" y="1205165"/>
            <a:ext cx="8686800" cy="2022092"/>
          </a:xfrm>
          <a:prstGeom prst="rect">
            <a:avLst/>
          </a:prstGeom>
          <a:solidFill>
            <a:srgbClr val="002060"/>
          </a:solidFill>
          <a:ln>
            <a:noFill/>
          </a:ln>
        </p:spPr>
        <p:txBody>
          <a:bodyPr wrap="square" anchor="ctr">
            <a:spAutoFit/>
          </a:bodyPr>
          <a:lstStyle/>
          <a:p>
            <a:pPr marL="463550" lvl="1" indent="-463550" algn="just">
              <a:lnSpc>
                <a:spcPct val="120000"/>
              </a:lnSpc>
              <a:spcBef>
                <a:spcPts val="600"/>
              </a:spcBef>
              <a:spcAft>
                <a:spcPts val="600"/>
              </a:spcAft>
              <a:buFont typeface="Arial" pitchFamily="34" charset="0"/>
              <a:buChar char="•"/>
              <a:defRPr/>
            </a:pPr>
            <a:r>
              <a:rPr lang="en-US" sz="2400" dirty="0">
                <a:solidFill>
                  <a:srgbClr val="FF6600"/>
                </a:solidFill>
              </a:rPr>
              <a:t>Plan </a:t>
            </a:r>
            <a:r>
              <a:rPr lang="en-US" sz="2400" dirty="0"/>
              <a:t>will usually </a:t>
            </a:r>
            <a:r>
              <a:rPr lang="en-US" sz="2400" dirty="0">
                <a:solidFill>
                  <a:srgbClr val="FF6600"/>
                </a:solidFill>
              </a:rPr>
              <a:t>change </a:t>
            </a:r>
            <a:r>
              <a:rPr lang="en-US" sz="2400" dirty="0"/>
              <a:t>while writing.</a:t>
            </a:r>
          </a:p>
          <a:p>
            <a:pPr marL="463550" lvl="1" indent="-463550" algn="just">
              <a:lnSpc>
                <a:spcPct val="120000"/>
              </a:lnSpc>
              <a:spcBef>
                <a:spcPts val="600"/>
              </a:spcBef>
              <a:spcAft>
                <a:spcPts val="600"/>
              </a:spcAft>
              <a:buFont typeface="Arial" pitchFamily="34" charset="0"/>
              <a:buChar char="•"/>
              <a:defRPr/>
            </a:pPr>
            <a:r>
              <a:rPr lang="en-US" sz="2400" dirty="0"/>
              <a:t>New insights invariably emerge when an entrepreneur or a team of entrepreneurs immerse themselves in writing the plan and start </a:t>
            </a:r>
            <a:r>
              <a:rPr lang="en-US" sz="2400" dirty="0">
                <a:solidFill>
                  <a:srgbClr val="FF6600"/>
                </a:solidFill>
              </a:rPr>
              <a:t>getting feedback</a:t>
            </a:r>
            <a:r>
              <a:rPr lang="en-US" sz="2400" dirty="0"/>
              <a:t> from others.</a:t>
            </a:r>
          </a:p>
        </p:txBody>
      </p:sp>
      <p:sp>
        <p:nvSpPr>
          <p:cNvPr id="9" name="Title Placeholder 1"/>
          <p:cNvSpPr txBox="1">
            <a:spLocks/>
          </p:cNvSpPr>
          <p:nvPr/>
        </p:nvSpPr>
        <p:spPr>
          <a:xfrm>
            <a:off x="0" y="0"/>
            <a:ext cx="9144000" cy="9906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Plan May Change</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Tree>
    <p:extLst>
      <p:ext uri="{BB962C8B-B14F-4D97-AF65-F5344CB8AC3E}">
        <p14:creationId xmlns:p14="http://schemas.microsoft.com/office/powerpoint/2010/main" val="228252541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5300" name="Slide Number Placeholder 5"/>
          <p:cNvSpPr>
            <a:spLocks noGrp="1"/>
          </p:cNvSpPr>
          <p:nvPr>
            <p:ph type="sldNum" sz="quarter" idx="12"/>
          </p:nvPr>
        </p:nvSpPr>
        <p:spPr>
          <a:xfrm>
            <a:off x="8534400" y="6248400"/>
            <a:ext cx="580698" cy="457199"/>
          </a:xfrm>
          <a:noFill/>
        </p:spPr>
        <p:txBody>
          <a:bodyPr/>
          <a:lstStyle/>
          <a:p>
            <a:pPr algn="ctr"/>
            <a:fld id="{C9D662BD-E075-4167-A29B-D0062BD63688}" type="slidenum">
              <a:rPr lang="en-US" smtClean="0"/>
              <a:pPr algn="ctr"/>
              <a:t>15</a:t>
            </a:fld>
            <a:endParaRPr lang="en-US" dirty="0"/>
          </a:p>
        </p:txBody>
      </p:sp>
      <p:sp>
        <p:nvSpPr>
          <p:cNvPr id="8" name="Action Button: Back or Previous 5">
            <a:hlinkClick r:id="" action="ppaction://noaction" highlightClick="1"/>
          </p:cNvPr>
          <p:cNvSpPr>
            <a:spLocks noChangeArrowheads="1"/>
          </p:cNvSpPr>
          <p:nvPr/>
        </p:nvSpPr>
        <p:spPr bwMode="auto">
          <a:xfrm>
            <a:off x="8229600" y="6400800"/>
            <a:ext cx="304800" cy="228600"/>
          </a:xfrm>
          <a:prstGeom prst="actionButtonBackPrevious">
            <a:avLst/>
          </a:prstGeom>
          <a:noFill/>
          <a:ln w="9525" algn="ctr">
            <a:solidFill>
              <a:schemeClr val="bg1"/>
            </a:solidFill>
            <a:round/>
            <a:headEnd/>
            <a:tailEnd/>
          </a:ln>
        </p:spPr>
        <p:txBody>
          <a:bodyPr/>
          <a:lstStyle/>
          <a:p>
            <a:pPr algn="ctr" eaLnBrk="1" hangingPunct="1"/>
            <a:endParaRPr lang="en-US" dirty="0"/>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Outline of Business Plan</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graphicFrame>
        <p:nvGraphicFramePr>
          <p:cNvPr id="4" name="Diagram 3">
            <a:extLst>
              <a:ext uri="{FF2B5EF4-FFF2-40B4-BE49-F238E27FC236}">
                <a16:creationId xmlns:a16="http://schemas.microsoft.com/office/drawing/2014/main" id="{5833A20E-BFDB-4809-9765-36B29002FABF}"/>
              </a:ext>
            </a:extLst>
          </p:cNvPr>
          <p:cNvGraphicFramePr/>
          <p:nvPr>
            <p:extLst>
              <p:ext uri="{D42A27DB-BD31-4B8C-83A1-F6EECF244321}">
                <p14:modId xmlns:p14="http://schemas.microsoft.com/office/powerpoint/2010/main" val="3859461563"/>
              </p:ext>
            </p:extLst>
          </p:nvPr>
        </p:nvGraphicFramePr>
        <p:xfrm>
          <a:off x="1855787" y="838200"/>
          <a:ext cx="5432426" cy="5867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4297081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5300"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16</a:t>
            </a:fld>
            <a:endParaRPr lang="en-US" dirty="0"/>
          </a:p>
        </p:txBody>
      </p:sp>
      <p:sp>
        <p:nvSpPr>
          <p:cNvPr id="5" name="Rectangle 276"/>
          <p:cNvSpPr>
            <a:spLocks noChangeArrowheads="1"/>
          </p:cNvSpPr>
          <p:nvPr/>
        </p:nvSpPr>
        <p:spPr bwMode="auto">
          <a:xfrm>
            <a:off x="228600" y="838200"/>
            <a:ext cx="8686800" cy="5386090"/>
          </a:xfrm>
          <a:prstGeom prst="rect">
            <a:avLst/>
          </a:prstGeom>
          <a:solidFill>
            <a:srgbClr val="002060"/>
          </a:solidFill>
          <a:ln>
            <a:noFill/>
          </a:ln>
        </p:spPr>
        <p:txBody>
          <a:bodyPr wrap="square" anchor="ctr">
            <a:spAutoFit/>
          </a:bodyPr>
          <a:lstStyle/>
          <a:p>
            <a:pPr marL="463550" lvl="1" indent="-463550" algn="just">
              <a:lnSpc>
                <a:spcPct val="150000"/>
              </a:lnSpc>
              <a:spcBef>
                <a:spcPts val="600"/>
              </a:spcBef>
              <a:spcAft>
                <a:spcPts val="600"/>
              </a:spcAft>
              <a:buFont typeface="Arial" pitchFamily="34" charset="0"/>
              <a:buChar char="•"/>
              <a:defRPr/>
            </a:pPr>
            <a:r>
              <a:rPr lang="en-US" sz="2400" dirty="0"/>
              <a:t>The executive summary is a short overview of the entire business plan; it </a:t>
            </a:r>
            <a:r>
              <a:rPr lang="en-US" sz="2400" dirty="0">
                <a:solidFill>
                  <a:srgbClr val="FFFF00"/>
                </a:solidFill>
              </a:rPr>
              <a:t>provides a busy reader with everything  she needs to know about the new venture’s distinctive nature</a:t>
            </a:r>
          </a:p>
          <a:p>
            <a:pPr marL="463550" lvl="1" indent="-463550" algn="just">
              <a:lnSpc>
                <a:spcPct val="150000"/>
              </a:lnSpc>
              <a:spcBef>
                <a:spcPts val="600"/>
              </a:spcBef>
              <a:spcAft>
                <a:spcPts val="600"/>
              </a:spcAft>
              <a:buFont typeface="Arial" pitchFamily="34" charset="0"/>
              <a:buChar char="•"/>
              <a:defRPr/>
            </a:pPr>
            <a:r>
              <a:rPr lang="en-US" sz="2400" dirty="0"/>
              <a:t>An executive summary should not exceed two single-spaced pages. </a:t>
            </a:r>
            <a:r>
              <a:rPr lang="en-US" sz="2400" dirty="0">
                <a:solidFill>
                  <a:srgbClr val="FFFF00"/>
                </a:solidFill>
              </a:rPr>
              <a:t>The cleanest format for an executive summary is to provide an overview of the business plan on a section-by-section basis</a:t>
            </a:r>
          </a:p>
          <a:p>
            <a:pPr marL="463550" lvl="1" indent="-463550" algn="just">
              <a:lnSpc>
                <a:spcPct val="150000"/>
              </a:lnSpc>
              <a:spcBef>
                <a:spcPts val="600"/>
              </a:spcBef>
              <a:spcAft>
                <a:spcPts val="600"/>
              </a:spcAft>
              <a:buFont typeface="Arial" pitchFamily="34" charset="0"/>
              <a:buChar char="•"/>
              <a:defRPr/>
            </a:pPr>
            <a:r>
              <a:rPr lang="en-US" sz="2400" dirty="0"/>
              <a:t>Even though the executive summary appears at the beginning of the business plan, </a:t>
            </a:r>
            <a:r>
              <a:rPr lang="en-US" sz="2400" dirty="0">
                <a:solidFill>
                  <a:srgbClr val="FFFF00"/>
                </a:solidFill>
              </a:rPr>
              <a:t>it should be written last</a:t>
            </a:r>
          </a:p>
        </p:txBody>
      </p:sp>
      <p:sp>
        <p:nvSpPr>
          <p:cNvPr id="8" name="Action Button: Back or Previous 5">
            <a:hlinkClick r:id="" action="ppaction://noaction" highlightClick="1"/>
          </p:cNvPr>
          <p:cNvSpPr>
            <a:spLocks noChangeArrowheads="1"/>
          </p:cNvSpPr>
          <p:nvPr/>
        </p:nvSpPr>
        <p:spPr bwMode="auto">
          <a:xfrm>
            <a:off x="8229600" y="6400800"/>
            <a:ext cx="304800" cy="228600"/>
          </a:xfrm>
          <a:prstGeom prst="actionButtonBackPrevious">
            <a:avLst/>
          </a:prstGeom>
          <a:noFill/>
          <a:ln w="9525" algn="ctr">
            <a:solidFill>
              <a:schemeClr val="bg1"/>
            </a:solidFill>
            <a:round/>
            <a:headEnd/>
            <a:tailEnd/>
          </a:ln>
        </p:spPr>
        <p:txBody>
          <a:bodyPr/>
          <a:lstStyle/>
          <a:p>
            <a:pPr algn="ctr" eaLnBrk="1" hangingPunct="1"/>
            <a:endParaRPr lang="en-US" dirty="0"/>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Executive Summary</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Tree>
    <p:extLst>
      <p:ext uri="{BB962C8B-B14F-4D97-AF65-F5344CB8AC3E}">
        <p14:creationId xmlns:p14="http://schemas.microsoft.com/office/powerpoint/2010/main" val="164297081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55E2D62-8AC0-42A7-BB6A-3FB61799D7BC}"/>
              </a:ext>
            </a:extLst>
          </p:cNvPr>
          <p:cNvPicPr>
            <a:picLocks noChangeAspect="1"/>
          </p:cNvPicPr>
          <p:nvPr/>
        </p:nvPicPr>
        <p:blipFill rotWithShape="1">
          <a:blip r:embed="rId2"/>
          <a:srcRect l="143" r="10856" b="-1"/>
          <a:stretch/>
        </p:blipFill>
        <p:spPr>
          <a:xfrm>
            <a:off x="20" y="10"/>
            <a:ext cx="9143980" cy="6857990"/>
          </a:xfrm>
          <a:prstGeom prst="rect">
            <a:avLst/>
          </a:prstGeom>
        </p:spPr>
      </p:pic>
      <p:sp>
        <p:nvSpPr>
          <p:cNvPr id="12" name="Rectangle 11">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7" y="-10136"/>
            <a:ext cx="4592270" cy="9144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8E26FB6E-2C84-434C-82B8-ADD4F4107DC2}"/>
              </a:ext>
            </a:extLst>
          </p:cNvPr>
          <p:cNvSpPr>
            <a:spLocks noGrp="1"/>
          </p:cNvSpPr>
          <p:nvPr>
            <p:ph type="ctrTitle"/>
          </p:nvPr>
        </p:nvSpPr>
        <p:spPr>
          <a:xfrm>
            <a:off x="303414" y="3091928"/>
            <a:ext cx="6808922" cy="2387600"/>
          </a:xfrm>
        </p:spPr>
        <p:txBody>
          <a:bodyPr>
            <a:normAutofit/>
          </a:bodyPr>
          <a:lstStyle/>
          <a:p>
            <a:pPr algn="l"/>
            <a:r>
              <a:rPr lang="en-US" sz="5700" dirty="0"/>
              <a:t>Executive Summary</a:t>
            </a:r>
            <a:br>
              <a:rPr lang="en-US" sz="5700" dirty="0"/>
            </a:br>
            <a:endParaRPr lang="en-US" sz="5700" dirty="0"/>
          </a:p>
        </p:txBody>
      </p:sp>
      <p:sp>
        <p:nvSpPr>
          <p:cNvPr id="14" name="Rectangle: Rounded Corners 13">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3">
            <a:extLst>
              <a:ext uri="{FF2B5EF4-FFF2-40B4-BE49-F238E27FC236}">
                <a16:creationId xmlns:a16="http://schemas.microsoft.com/office/drawing/2014/main" id="{A329EECD-1912-4240-A75E-73B998454C1D}"/>
              </a:ext>
            </a:extLst>
          </p:cNvPr>
          <p:cNvSpPr>
            <a:spLocks noGrp="1"/>
          </p:cNvSpPr>
          <p:nvPr>
            <p:ph type="subTitle" idx="1"/>
          </p:nvPr>
        </p:nvSpPr>
        <p:spPr>
          <a:xfrm>
            <a:off x="303414" y="5624945"/>
            <a:ext cx="6808922" cy="592975"/>
          </a:xfrm>
        </p:spPr>
        <p:txBody>
          <a:bodyPr anchor="ctr">
            <a:normAutofit fontScale="77500" lnSpcReduction="20000"/>
          </a:bodyPr>
          <a:lstStyle/>
          <a:p>
            <a:pPr algn="l"/>
            <a:r>
              <a:rPr lang="en-US" dirty="0"/>
              <a:t>https://www.youtube.com/watch?v=BCnjfTN97Z8</a:t>
            </a:r>
          </a:p>
        </p:txBody>
      </p:sp>
      <p:sp>
        <p:nvSpPr>
          <p:cNvPr id="2" name="Slide Number Placeholder 1">
            <a:extLst>
              <a:ext uri="{FF2B5EF4-FFF2-40B4-BE49-F238E27FC236}">
                <a16:creationId xmlns:a16="http://schemas.microsoft.com/office/drawing/2014/main" id="{EA775A25-4FB8-4097-BA2E-646FC08D9B24}"/>
              </a:ext>
            </a:extLst>
          </p:cNvPr>
          <p:cNvSpPr>
            <a:spLocks noGrp="1"/>
          </p:cNvSpPr>
          <p:nvPr>
            <p:ph type="sldNum" sz="quarter" idx="12"/>
          </p:nvPr>
        </p:nvSpPr>
        <p:spPr>
          <a:xfrm>
            <a:off x="6780899" y="6356350"/>
            <a:ext cx="2057400" cy="365125"/>
          </a:xfrm>
        </p:spPr>
        <p:txBody>
          <a:bodyPr>
            <a:normAutofit/>
          </a:bodyPr>
          <a:lstStyle/>
          <a:p>
            <a:pPr>
              <a:spcAft>
                <a:spcPts val="600"/>
              </a:spcAft>
              <a:defRPr/>
            </a:pPr>
            <a:fld id="{1BC07364-43B1-4953-8847-A6026C38780C}" type="slidenum">
              <a:rPr lang="en-US">
                <a:solidFill>
                  <a:schemeClr val="tx1"/>
                </a:solidFill>
              </a:rPr>
              <a:pPr>
                <a:spcAft>
                  <a:spcPts val="600"/>
                </a:spcAft>
                <a:defRPr/>
              </a:pPr>
              <a:t>17</a:t>
            </a:fld>
            <a:endParaRPr lang="en-US">
              <a:solidFill>
                <a:schemeClr val="tx1"/>
              </a:solidFill>
            </a:endParaRPr>
          </a:p>
        </p:txBody>
      </p:sp>
    </p:spTree>
    <p:extLst>
      <p:ext uri="{BB962C8B-B14F-4D97-AF65-F5344CB8AC3E}">
        <p14:creationId xmlns:p14="http://schemas.microsoft.com/office/powerpoint/2010/main" val="3464739806"/>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 name="Rectangle 276"/>
          <p:cNvSpPr>
            <a:spLocks noChangeArrowheads="1"/>
          </p:cNvSpPr>
          <p:nvPr/>
        </p:nvSpPr>
        <p:spPr bwMode="auto">
          <a:xfrm>
            <a:off x="228600" y="1507664"/>
            <a:ext cx="8686800" cy="4697889"/>
          </a:xfrm>
          <a:prstGeom prst="rect">
            <a:avLst/>
          </a:prstGeom>
          <a:solidFill>
            <a:srgbClr val="002060"/>
          </a:solidFill>
          <a:ln>
            <a:noFill/>
          </a:ln>
        </p:spPr>
        <p:txBody>
          <a:bodyPr wrap="square" anchor="ctr">
            <a:spAutoFit/>
          </a:bodyPr>
          <a:lstStyle/>
          <a:p>
            <a:pPr marL="463550" indent="-463550" algn="just">
              <a:lnSpc>
                <a:spcPct val="140000"/>
              </a:lnSpc>
              <a:buFontTx/>
              <a:buChar char="•"/>
            </a:pPr>
            <a:r>
              <a:rPr lang="en-US" altLang="en-US" sz="2400" dirty="0"/>
              <a:t>This section begins by describing the industry the business will enter in terms of its </a:t>
            </a:r>
            <a:r>
              <a:rPr lang="en-US" altLang="en-US" sz="2400" dirty="0">
                <a:solidFill>
                  <a:srgbClr val="FFFF00"/>
                </a:solidFill>
              </a:rPr>
              <a:t>size, growth rate, and sales projections.</a:t>
            </a:r>
          </a:p>
          <a:p>
            <a:pPr marL="463550" indent="-463550" algn="just">
              <a:lnSpc>
                <a:spcPct val="140000"/>
              </a:lnSpc>
              <a:buFontTx/>
              <a:buChar char="•"/>
            </a:pPr>
            <a:r>
              <a:rPr lang="en-US" altLang="en-US" sz="2400" dirty="0"/>
              <a:t>Items to include in this section:-</a:t>
            </a:r>
          </a:p>
          <a:p>
            <a:pPr marL="914400" indent="-450850" algn="just">
              <a:lnSpc>
                <a:spcPct val="140000"/>
              </a:lnSpc>
              <a:buFont typeface="Wingdings" pitchFamily="2" charset="2"/>
              <a:buChar char="ü"/>
            </a:pPr>
            <a:r>
              <a:rPr lang="en-US" altLang="en-US" sz="2400" dirty="0"/>
              <a:t>Industry size, growth rate, and sales projections.</a:t>
            </a:r>
          </a:p>
          <a:p>
            <a:pPr marL="914400" indent="-450850" algn="just">
              <a:lnSpc>
                <a:spcPct val="140000"/>
              </a:lnSpc>
              <a:buFont typeface="Wingdings" pitchFamily="2" charset="2"/>
              <a:buChar char="ü"/>
            </a:pPr>
            <a:r>
              <a:rPr lang="en-US" altLang="en-US" sz="2400" dirty="0"/>
              <a:t>Nature of participants  – </a:t>
            </a:r>
            <a:r>
              <a:rPr lang="en-US" sz="2400" dirty="0">
                <a:solidFill>
                  <a:srgbClr val="FFFF00"/>
                </a:solidFill>
              </a:rPr>
              <a:t>innovative or conservative and are quick or slow to react to environment change</a:t>
            </a:r>
            <a:r>
              <a:rPr lang="en-US" altLang="en-US" sz="2400" dirty="0">
                <a:solidFill>
                  <a:srgbClr val="FFFF00"/>
                </a:solidFill>
              </a:rPr>
              <a:t> </a:t>
            </a:r>
          </a:p>
          <a:p>
            <a:pPr marL="914400" indent="-450850" algn="just">
              <a:lnSpc>
                <a:spcPct val="140000"/>
              </a:lnSpc>
              <a:buFont typeface="Wingdings" pitchFamily="2" charset="2"/>
              <a:buChar char="ü"/>
            </a:pPr>
            <a:r>
              <a:rPr lang="en-US" altLang="en-US" sz="2400" dirty="0"/>
              <a:t>Key success factors – </a:t>
            </a:r>
            <a:r>
              <a:rPr lang="en-US" sz="2400" dirty="0">
                <a:solidFill>
                  <a:srgbClr val="FFFF00"/>
                </a:solidFill>
              </a:rPr>
              <a:t>participants competency to compete</a:t>
            </a:r>
          </a:p>
          <a:p>
            <a:pPr marL="914400" indent="-450850" algn="just">
              <a:lnSpc>
                <a:spcPct val="140000"/>
              </a:lnSpc>
              <a:buFont typeface="Wingdings" pitchFamily="2" charset="2"/>
              <a:buChar char="ü"/>
            </a:pPr>
            <a:r>
              <a:rPr lang="en-US" altLang="en-US" sz="2400" dirty="0"/>
              <a:t>Industry trends – </a:t>
            </a:r>
            <a:r>
              <a:rPr lang="en-US" sz="2400" dirty="0">
                <a:solidFill>
                  <a:srgbClr val="FFFF00"/>
                </a:solidFill>
              </a:rPr>
              <a:t>environmental and business trends</a:t>
            </a:r>
          </a:p>
          <a:p>
            <a:pPr marL="914400" indent="-450850" algn="just">
              <a:lnSpc>
                <a:spcPct val="140000"/>
              </a:lnSpc>
              <a:buFont typeface="Wingdings" pitchFamily="2" charset="2"/>
              <a:buChar char="ü"/>
            </a:pPr>
            <a:r>
              <a:rPr lang="en-US" sz="2400" dirty="0">
                <a:solidFill>
                  <a:srgbClr val="FFFF00"/>
                </a:solidFill>
              </a:rPr>
              <a:t>Five Force Model</a:t>
            </a: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Industry Analysis</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
        <p:nvSpPr>
          <p:cNvPr id="10"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18</a:t>
            </a:fld>
            <a:endParaRPr lang="en-US" dirty="0"/>
          </a:p>
        </p:txBody>
      </p:sp>
    </p:spTree>
    <p:extLst>
      <p:ext uri="{BB962C8B-B14F-4D97-AF65-F5344CB8AC3E}">
        <p14:creationId xmlns:p14="http://schemas.microsoft.com/office/powerpoint/2010/main" val="164297081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5"/>
          <p:cNvSpPr>
            <a:spLocks noChangeArrowheads="1"/>
          </p:cNvSpPr>
          <p:nvPr/>
        </p:nvSpPr>
        <p:spPr bwMode="auto">
          <a:xfrm>
            <a:off x="76200" y="1219200"/>
            <a:ext cx="4800600" cy="4267200"/>
          </a:xfrm>
          <a:prstGeom prst="rect">
            <a:avLst/>
          </a:prstGeom>
          <a:solidFill>
            <a:schemeClr val="bg2">
              <a:lumMod val="20000"/>
              <a:lumOff val="80000"/>
            </a:schemeClr>
          </a:solidFill>
          <a:ln w="9525">
            <a:solidFill>
              <a:schemeClr val="tx1"/>
            </a:solidFill>
            <a:miter lim="800000"/>
            <a:headEnd/>
            <a:tailEnd/>
          </a:ln>
        </p:spPr>
        <p:txBody>
          <a:bodyPr wrap="none" anchor="ctr"/>
          <a:lstStyle/>
          <a:p>
            <a:pPr algn="ctr" eaLnBrk="1" hangingPunct="1"/>
            <a:endParaRPr lang="en-US" altLang="en-US" sz="2400"/>
          </a:p>
        </p:txBody>
      </p:sp>
      <p:sp>
        <p:nvSpPr>
          <p:cNvPr id="15366" name="TextBox 12"/>
          <p:cNvSpPr txBox="1">
            <a:spLocks noChangeArrowheads="1"/>
          </p:cNvSpPr>
          <p:nvPr/>
        </p:nvSpPr>
        <p:spPr bwMode="auto">
          <a:xfrm>
            <a:off x="152400" y="1828800"/>
            <a:ext cx="4800600" cy="3416320"/>
          </a:xfrm>
          <a:prstGeom prst="rect">
            <a:avLst/>
          </a:prstGeom>
          <a:noFill/>
          <a:ln w="9525">
            <a:noFill/>
            <a:miter lim="800000"/>
            <a:headEnd/>
            <a:tailEnd/>
          </a:ln>
        </p:spPr>
        <p:txBody>
          <a:bodyPr>
            <a:spAutoFit/>
          </a:bodyPr>
          <a:lstStyle/>
          <a:p>
            <a:pPr marL="282575" indent="-282575" algn="just" eaLnBrk="1" hangingPunct="1">
              <a:buFontTx/>
              <a:buChar char="•"/>
            </a:pPr>
            <a:r>
              <a:rPr lang="en-US" altLang="en-US" sz="2400" dirty="0">
                <a:solidFill>
                  <a:schemeClr val="bg1"/>
                </a:solidFill>
              </a:rPr>
              <a:t>Before a business selects a target market it should have a good grasp</a:t>
            </a:r>
          </a:p>
          <a:p>
            <a:pPr marL="282575" indent="-282575" eaLnBrk="1" hangingPunct="1"/>
            <a:r>
              <a:rPr lang="en-US" altLang="en-US" sz="2400" dirty="0">
                <a:solidFill>
                  <a:schemeClr val="bg1"/>
                </a:solidFill>
              </a:rPr>
              <a:t>  	of its industry—including where its</a:t>
            </a:r>
          </a:p>
          <a:p>
            <a:pPr marL="282575" indent="-282575" eaLnBrk="1" hangingPunct="1"/>
            <a:r>
              <a:rPr lang="en-US" altLang="en-US" sz="2400" dirty="0">
                <a:solidFill>
                  <a:schemeClr val="bg1"/>
                </a:solidFill>
              </a:rPr>
              <a:t>  	promising areas are and where its</a:t>
            </a:r>
          </a:p>
          <a:p>
            <a:pPr marL="282575" indent="-282575" eaLnBrk="1" hangingPunct="1"/>
            <a:r>
              <a:rPr lang="en-US" altLang="en-US" sz="2400" dirty="0">
                <a:solidFill>
                  <a:schemeClr val="bg1"/>
                </a:solidFill>
              </a:rPr>
              <a:t>  	points of vulnerability are.</a:t>
            </a:r>
          </a:p>
          <a:p>
            <a:pPr marL="282575" indent="-282575" algn="just" eaLnBrk="1" hangingPunct="1">
              <a:buFontTx/>
              <a:buChar char="•"/>
            </a:pPr>
            <a:r>
              <a:rPr lang="en-US" altLang="en-US" sz="2400" dirty="0">
                <a:solidFill>
                  <a:schemeClr val="bg1"/>
                </a:solidFill>
              </a:rPr>
              <a:t> The industry that a company participates in largely defines the playing field that a firm will participate in.</a:t>
            </a:r>
          </a:p>
        </p:txBody>
      </p:sp>
      <p:sp>
        <p:nvSpPr>
          <p:cNvPr id="15369" name="Slide Number Placeholder 9"/>
          <p:cNvSpPr>
            <a:spLocks noGrp="1"/>
          </p:cNvSpPr>
          <p:nvPr>
            <p:ph type="sldNum" sz="quarter" idx="12"/>
          </p:nvPr>
        </p:nvSpPr>
        <p:spPr>
          <a:noFill/>
        </p:spPr>
        <p:txBody>
          <a:bodyPr/>
          <a:lstStyle/>
          <a:p>
            <a:r>
              <a:rPr lang="en-US" altLang="en-US" dirty="0">
                <a:latin typeface="Arial" charset="0"/>
              </a:rPr>
              <a:t>6-</a:t>
            </a:r>
            <a:fld id="{0396E92C-82B2-49B4-9EBA-638CC273A92D}" type="slidenum">
              <a:rPr lang="en-US" altLang="en-US" smtClean="0">
                <a:latin typeface="Arial" charset="0"/>
              </a:rPr>
              <a:pPr/>
              <a:t>19</a:t>
            </a:fld>
            <a:endParaRPr lang="en-US" altLang="en-US" dirty="0">
              <a:latin typeface="Arial" charset="0"/>
            </a:endParaRPr>
          </a:p>
        </p:txBody>
      </p:sp>
      <p:sp>
        <p:nvSpPr>
          <p:cNvPr id="11"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Industry Analysis</a:t>
            </a:r>
          </a:p>
        </p:txBody>
      </p:sp>
      <p:pic>
        <p:nvPicPr>
          <p:cNvPr id="12"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pic>
        <p:nvPicPr>
          <p:cNvPr id="33794" name="Picture 2" descr="Image result for industrial analysis"/>
          <p:cNvPicPr>
            <a:picLocks noChangeAspect="1" noChangeArrowheads="1"/>
          </p:cNvPicPr>
          <p:nvPr/>
        </p:nvPicPr>
        <p:blipFill>
          <a:blip r:embed="rId3" cstate="print"/>
          <a:srcRect/>
          <a:stretch>
            <a:fillRect/>
          </a:stretch>
        </p:blipFill>
        <p:spPr bwMode="auto">
          <a:xfrm>
            <a:off x="5002368" y="1244958"/>
            <a:ext cx="4038600" cy="4241442"/>
          </a:xfrm>
          <a:prstGeom prst="rect">
            <a:avLst/>
          </a:prstGeom>
          <a:noFill/>
        </p:spPr>
      </p:pic>
      <p:sp>
        <p:nvSpPr>
          <p:cNvPr id="15" name="Rectangle 14"/>
          <p:cNvSpPr/>
          <p:nvPr/>
        </p:nvSpPr>
        <p:spPr>
          <a:xfrm>
            <a:off x="76200" y="1219200"/>
            <a:ext cx="4800600" cy="381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00"/>
                </a:solidFill>
              </a:rPr>
              <a:t>Key Takeaways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5300" name="Slide Number Placeholder 5"/>
          <p:cNvSpPr>
            <a:spLocks noGrp="1"/>
          </p:cNvSpPr>
          <p:nvPr>
            <p:ph type="sldNum" sz="quarter" idx="12"/>
          </p:nvPr>
        </p:nvSpPr>
        <p:spPr>
          <a:xfrm>
            <a:off x="8534400" y="6400801"/>
            <a:ext cx="580698" cy="457199"/>
          </a:xfrm>
          <a:noFill/>
        </p:spPr>
        <p:txBody>
          <a:bodyPr/>
          <a:lstStyle/>
          <a:p>
            <a:fld id="{C9D662BD-E075-4167-A29B-D0062BD63688}" type="slidenum">
              <a:rPr lang="en-US" smtClean="0"/>
              <a:pPr/>
              <a:t>20</a:t>
            </a:fld>
            <a:endParaRPr lang="en-US" dirty="0"/>
          </a:p>
        </p:txBody>
      </p:sp>
      <p:sp>
        <p:nvSpPr>
          <p:cNvPr id="5" name="Rectangle 276"/>
          <p:cNvSpPr>
            <a:spLocks noChangeArrowheads="1"/>
          </p:cNvSpPr>
          <p:nvPr/>
        </p:nvSpPr>
        <p:spPr bwMode="auto">
          <a:xfrm>
            <a:off x="228600" y="949052"/>
            <a:ext cx="8686800" cy="5815118"/>
          </a:xfrm>
          <a:prstGeom prst="rect">
            <a:avLst/>
          </a:prstGeom>
          <a:solidFill>
            <a:srgbClr val="002060"/>
          </a:solidFill>
          <a:ln>
            <a:noFill/>
          </a:ln>
        </p:spPr>
        <p:txBody>
          <a:bodyPr wrap="square" anchor="ctr">
            <a:spAutoFit/>
          </a:bodyPr>
          <a:lstStyle/>
          <a:p>
            <a:pPr marL="463550" indent="-463550" algn="just">
              <a:lnSpc>
                <a:spcPct val="130000"/>
              </a:lnSpc>
              <a:buFontTx/>
              <a:buChar char="•"/>
            </a:pPr>
            <a:r>
              <a:rPr lang="en-US" altLang="en-US" sz="2400" dirty="0"/>
              <a:t>This section begins with a general description of the company</a:t>
            </a:r>
          </a:p>
          <a:p>
            <a:pPr marL="463550" indent="-463550" algn="just">
              <a:lnSpc>
                <a:spcPct val="130000"/>
              </a:lnSpc>
              <a:buFontTx/>
              <a:buChar char="•"/>
            </a:pPr>
            <a:r>
              <a:rPr lang="en-US" altLang="en-US" sz="2400" dirty="0"/>
              <a:t>Salient are:-</a:t>
            </a:r>
          </a:p>
          <a:p>
            <a:pPr marL="914400" indent="-463550" algn="just">
              <a:lnSpc>
                <a:spcPct val="130000"/>
              </a:lnSpc>
              <a:buFontTx/>
              <a:buChar char="•"/>
            </a:pPr>
            <a:r>
              <a:rPr lang="en-US" altLang="en-US" sz="2400" dirty="0"/>
              <a:t>Company description –  </a:t>
            </a:r>
            <a:r>
              <a:rPr lang="en-US" sz="2400" dirty="0">
                <a:solidFill>
                  <a:srgbClr val="FFFF00"/>
                </a:solidFill>
              </a:rPr>
              <a:t>translate an idea into a business</a:t>
            </a:r>
          </a:p>
          <a:p>
            <a:pPr marL="914400" indent="-463550" algn="just">
              <a:lnSpc>
                <a:spcPct val="130000"/>
              </a:lnSpc>
              <a:buFontTx/>
              <a:buChar char="•"/>
            </a:pPr>
            <a:r>
              <a:rPr lang="en-US" altLang="en-US" sz="2400" dirty="0"/>
              <a:t>Company history – </a:t>
            </a:r>
            <a:r>
              <a:rPr lang="en-US" sz="2400" dirty="0">
                <a:solidFill>
                  <a:srgbClr val="FFFF00"/>
                </a:solidFill>
              </a:rPr>
              <a:t>idea for company came from and the driving force behind its inception</a:t>
            </a:r>
          </a:p>
          <a:p>
            <a:pPr marL="914400" indent="-463550" algn="just">
              <a:lnSpc>
                <a:spcPct val="130000"/>
              </a:lnSpc>
              <a:buFontTx/>
              <a:buChar char="•"/>
            </a:pPr>
            <a:r>
              <a:rPr lang="en-US" altLang="en-US" sz="2400" dirty="0"/>
              <a:t>Mission statement – </a:t>
            </a:r>
            <a:r>
              <a:rPr lang="en-US" sz="2400" dirty="0">
                <a:solidFill>
                  <a:srgbClr val="FFFF00"/>
                </a:solidFill>
              </a:rPr>
              <a:t>define the path a company takes and act as its financial and moral compass</a:t>
            </a:r>
          </a:p>
          <a:p>
            <a:pPr marL="914400" indent="-463550" algn="just">
              <a:lnSpc>
                <a:spcPct val="130000"/>
              </a:lnSpc>
              <a:buFontTx/>
              <a:buChar char="•"/>
            </a:pPr>
            <a:r>
              <a:rPr lang="en-US" altLang="en-US" sz="2400" dirty="0"/>
              <a:t>Products and services - </a:t>
            </a:r>
            <a:r>
              <a:rPr lang="en-US" sz="2400" dirty="0">
                <a:solidFill>
                  <a:srgbClr val="FFFF00"/>
                </a:solidFill>
              </a:rPr>
              <a:t>description of how your product or service is unique </a:t>
            </a:r>
          </a:p>
          <a:p>
            <a:pPr marL="914400" indent="-463550" algn="just">
              <a:lnSpc>
                <a:spcPct val="130000"/>
              </a:lnSpc>
              <a:buFontTx/>
              <a:buChar char="•"/>
            </a:pPr>
            <a:r>
              <a:rPr lang="en-US" altLang="en-US" sz="2400" dirty="0"/>
              <a:t>Current status – </a:t>
            </a:r>
            <a:r>
              <a:rPr lang="en-US" sz="2400" dirty="0">
                <a:solidFill>
                  <a:srgbClr val="FFFF00"/>
                </a:solidFill>
              </a:rPr>
              <a:t>how far company is in its development</a:t>
            </a:r>
            <a:endParaRPr lang="en-US" altLang="en-US" sz="2400" dirty="0">
              <a:solidFill>
                <a:srgbClr val="FFFF00"/>
              </a:solidFill>
            </a:endParaRPr>
          </a:p>
          <a:p>
            <a:pPr marL="914400" indent="-463550" algn="just">
              <a:lnSpc>
                <a:spcPct val="130000"/>
              </a:lnSpc>
              <a:buFontTx/>
              <a:buChar char="•"/>
            </a:pPr>
            <a:r>
              <a:rPr lang="en-US" altLang="en-US" sz="2400" dirty="0"/>
              <a:t>Legal status and ownership – </a:t>
            </a:r>
            <a:r>
              <a:rPr lang="en-US" sz="2400" dirty="0">
                <a:solidFill>
                  <a:srgbClr val="FFFF00"/>
                </a:solidFill>
              </a:rPr>
              <a:t>who owns the business</a:t>
            </a:r>
            <a:endParaRPr lang="en-US" altLang="en-US" sz="2400" dirty="0">
              <a:solidFill>
                <a:srgbClr val="FFFF00"/>
              </a:solidFill>
            </a:endParaRPr>
          </a:p>
          <a:p>
            <a:pPr marL="914400" indent="-463550" algn="just">
              <a:lnSpc>
                <a:spcPct val="130000"/>
              </a:lnSpc>
              <a:buFontTx/>
              <a:buChar char="•"/>
            </a:pPr>
            <a:r>
              <a:rPr lang="en-US" altLang="en-US" sz="2400" dirty="0"/>
              <a:t>Key partnerships (if any) – </a:t>
            </a:r>
            <a:r>
              <a:rPr lang="en-US" altLang="en-US" sz="2400" dirty="0">
                <a:solidFill>
                  <a:srgbClr val="FFFF00"/>
                </a:solidFill>
              </a:rPr>
              <a:t>integral to business</a:t>
            </a: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Company Description</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Tree>
    <p:extLst>
      <p:ext uri="{BB962C8B-B14F-4D97-AF65-F5344CB8AC3E}">
        <p14:creationId xmlns:p14="http://schemas.microsoft.com/office/powerpoint/2010/main" val="164297081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995FC4-7CEF-4F21-89BE-0D96C51FC82E}"/>
              </a:ext>
            </a:extLst>
          </p:cNvPr>
          <p:cNvSpPr>
            <a:spLocks noGrp="1"/>
          </p:cNvSpPr>
          <p:nvPr>
            <p:ph type="sldNum" sz="quarter" idx="12"/>
          </p:nvPr>
        </p:nvSpPr>
        <p:spPr/>
        <p:txBody>
          <a:bodyPr/>
          <a:lstStyle/>
          <a:p>
            <a:pPr>
              <a:defRPr/>
            </a:pPr>
            <a:fld id="{1BC07364-43B1-4953-8847-A6026C38780C}" type="slidenum">
              <a:rPr lang="en-US" smtClean="0"/>
              <a:pPr>
                <a:defRPr/>
              </a:pPr>
              <a:t>21</a:t>
            </a:fld>
            <a:endParaRPr lang="en-US"/>
          </a:p>
        </p:txBody>
      </p:sp>
      <p:pic>
        <p:nvPicPr>
          <p:cNvPr id="4" name="Picture 3" descr="A close up of a person&#10;&#10;Description automatically generated">
            <a:extLst>
              <a:ext uri="{FF2B5EF4-FFF2-40B4-BE49-F238E27FC236}">
                <a16:creationId xmlns:a16="http://schemas.microsoft.com/office/drawing/2014/main" id="{91F9A81E-88CE-4051-B86B-C3B280A4D4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2385"/>
            <a:ext cx="9144000" cy="6093229"/>
          </a:xfrm>
          <a:prstGeom prst="rect">
            <a:avLst/>
          </a:prstGeom>
        </p:spPr>
      </p:pic>
    </p:spTree>
    <p:extLst>
      <p:ext uri="{BB962C8B-B14F-4D97-AF65-F5344CB8AC3E}">
        <p14:creationId xmlns:p14="http://schemas.microsoft.com/office/powerpoint/2010/main" val="903254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F46C53-A42B-41B4-8B6D-C33080A59098}"/>
              </a:ext>
            </a:extLst>
          </p:cNvPr>
          <p:cNvSpPr>
            <a:spLocks noGrp="1"/>
          </p:cNvSpPr>
          <p:nvPr>
            <p:ph type="sldNum" sz="quarter" idx="12"/>
          </p:nvPr>
        </p:nvSpPr>
        <p:spPr/>
        <p:txBody>
          <a:bodyPr/>
          <a:lstStyle/>
          <a:p>
            <a:pPr>
              <a:defRPr/>
            </a:pPr>
            <a:fld id="{1BC07364-43B1-4953-8847-A6026C38780C}" type="slidenum">
              <a:rPr lang="en-US" smtClean="0"/>
              <a:pPr>
                <a:defRPr/>
              </a:pPr>
              <a:t>22</a:t>
            </a:fld>
            <a:endParaRPr lang="en-US"/>
          </a:p>
        </p:txBody>
      </p:sp>
      <p:pic>
        <p:nvPicPr>
          <p:cNvPr id="4" name="Picture 3" descr="Text&#10;&#10;Description automatically generated">
            <a:extLst>
              <a:ext uri="{FF2B5EF4-FFF2-40B4-BE49-F238E27FC236}">
                <a16:creationId xmlns:a16="http://schemas.microsoft.com/office/drawing/2014/main" id="{82486B27-E6FF-41AC-9334-E8221EE32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750" y="571500"/>
            <a:ext cx="8572500" cy="5715000"/>
          </a:xfrm>
          <a:prstGeom prst="rect">
            <a:avLst/>
          </a:prstGeom>
        </p:spPr>
      </p:pic>
    </p:spTree>
    <p:extLst>
      <p:ext uri="{BB962C8B-B14F-4D97-AF65-F5344CB8AC3E}">
        <p14:creationId xmlns:p14="http://schemas.microsoft.com/office/powerpoint/2010/main" val="3334369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 name="Rectangle 276"/>
          <p:cNvSpPr>
            <a:spLocks noChangeArrowheads="1"/>
          </p:cNvSpPr>
          <p:nvPr/>
        </p:nvSpPr>
        <p:spPr bwMode="auto">
          <a:xfrm>
            <a:off x="228600" y="929662"/>
            <a:ext cx="8686800" cy="5853910"/>
          </a:xfrm>
          <a:prstGeom prst="rect">
            <a:avLst/>
          </a:prstGeom>
          <a:solidFill>
            <a:srgbClr val="002060"/>
          </a:solidFill>
          <a:ln>
            <a:noFill/>
          </a:ln>
        </p:spPr>
        <p:txBody>
          <a:bodyPr wrap="square" anchor="ctr">
            <a:spAutoFit/>
          </a:bodyPr>
          <a:lstStyle/>
          <a:p>
            <a:pPr marL="463550" indent="-463550" algn="just">
              <a:lnSpc>
                <a:spcPct val="130000"/>
              </a:lnSpc>
              <a:buFontTx/>
              <a:buChar char="•"/>
            </a:pPr>
            <a:r>
              <a:rPr lang="en-US" altLang="en-US" sz="2400" dirty="0"/>
              <a:t>The market analysis </a:t>
            </a:r>
            <a:r>
              <a:rPr lang="en-US" altLang="en-US" sz="2400" dirty="0">
                <a:solidFill>
                  <a:srgbClr val="FFFF00"/>
                </a:solidFill>
              </a:rPr>
              <a:t>breaks the industry into the specific segment </a:t>
            </a:r>
            <a:r>
              <a:rPr lang="en-US" altLang="en-US" sz="2400" dirty="0"/>
              <a:t>(or target market) to which the firm will try to appeal</a:t>
            </a:r>
          </a:p>
          <a:p>
            <a:pPr marL="463550" indent="-463550" algn="just">
              <a:lnSpc>
                <a:spcPct val="130000"/>
              </a:lnSpc>
              <a:buFontTx/>
              <a:buChar char="•"/>
            </a:pPr>
            <a:r>
              <a:rPr lang="en-US" altLang="en-US" sz="2400" dirty="0"/>
              <a:t>Items to include in this section:-</a:t>
            </a:r>
          </a:p>
          <a:p>
            <a:pPr marL="914400" indent="-463550" algn="just">
              <a:lnSpc>
                <a:spcPct val="130000"/>
              </a:lnSpc>
              <a:buFontTx/>
              <a:buChar char="•"/>
            </a:pPr>
            <a:r>
              <a:rPr lang="en-US" altLang="en-US" sz="2400" dirty="0"/>
              <a:t>Market segmentation &amp; target market selection – </a:t>
            </a:r>
            <a:r>
              <a:rPr lang="en-US" sz="2400" dirty="0">
                <a:solidFill>
                  <a:srgbClr val="FFFF00"/>
                </a:solidFill>
              </a:rPr>
              <a:t>geography</a:t>
            </a:r>
            <a:r>
              <a:rPr lang="en-US" sz="2400" dirty="0"/>
              <a:t> (city, state, country), </a:t>
            </a:r>
            <a:r>
              <a:rPr lang="en-US" sz="2400" dirty="0">
                <a:solidFill>
                  <a:srgbClr val="FFFF00"/>
                </a:solidFill>
              </a:rPr>
              <a:t>demographic variables </a:t>
            </a:r>
            <a:r>
              <a:rPr lang="en-US" sz="2400" dirty="0"/>
              <a:t>(age, gender, income), </a:t>
            </a:r>
            <a:r>
              <a:rPr lang="en-US" sz="2400" dirty="0">
                <a:solidFill>
                  <a:srgbClr val="FFFF00"/>
                </a:solidFill>
              </a:rPr>
              <a:t>psychographic variables </a:t>
            </a:r>
            <a:r>
              <a:rPr lang="en-US" sz="2400" dirty="0"/>
              <a:t>(personality, lifestyle, values)</a:t>
            </a:r>
            <a:endParaRPr lang="en-US" altLang="en-US" sz="2400" dirty="0"/>
          </a:p>
          <a:p>
            <a:pPr marL="914400" indent="-463550" algn="just">
              <a:lnSpc>
                <a:spcPct val="130000"/>
              </a:lnSpc>
              <a:buFontTx/>
              <a:buChar char="•"/>
            </a:pPr>
            <a:r>
              <a:rPr lang="en-US" altLang="en-US" sz="2400" dirty="0"/>
              <a:t>Buyer behavior – </a:t>
            </a:r>
            <a:r>
              <a:rPr lang="en-US" sz="2400" dirty="0">
                <a:solidFill>
                  <a:srgbClr val="FFFF00"/>
                </a:solidFill>
              </a:rPr>
              <a:t>knows about the consumers to accommodate their needs</a:t>
            </a:r>
            <a:endParaRPr lang="en-US" altLang="en-US" sz="2400" dirty="0">
              <a:solidFill>
                <a:srgbClr val="FFFF00"/>
              </a:solidFill>
            </a:endParaRPr>
          </a:p>
          <a:p>
            <a:pPr marL="914400" indent="-463550" algn="just">
              <a:lnSpc>
                <a:spcPct val="130000"/>
              </a:lnSpc>
              <a:buFontTx/>
              <a:buChar char="•"/>
            </a:pPr>
            <a:r>
              <a:rPr lang="en-US" altLang="en-US" sz="2400" dirty="0"/>
              <a:t>Competitor analysis – </a:t>
            </a:r>
            <a:r>
              <a:rPr lang="en-US" sz="2400" dirty="0"/>
              <a:t>detailed analysis of a firm’s competitors</a:t>
            </a:r>
          </a:p>
          <a:p>
            <a:pPr marL="914400" indent="-463550" algn="just">
              <a:lnSpc>
                <a:spcPct val="130000"/>
              </a:lnSpc>
              <a:buFontTx/>
              <a:buChar char="•"/>
            </a:pPr>
            <a:r>
              <a:rPr lang="en-US" sz="2400" dirty="0"/>
              <a:t>Annual sales and market share</a:t>
            </a:r>
            <a:endParaRPr lang="en-US" altLang="en-US" sz="2400" dirty="0"/>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Market Analysis</a:t>
            </a:r>
          </a:p>
        </p:txBody>
      </p:sp>
      <p:sp>
        <p:nvSpPr>
          <p:cNvPr id="8"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23</a:t>
            </a:fld>
            <a:endParaRPr lang="en-US" dirty="0"/>
          </a:p>
        </p:txBody>
      </p:sp>
    </p:spTree>
    <p:extLst>
      <p:ext uri="{BB962C8B-B14F-4D97-AF65-F5344CB8AC3E}">
        <p14:creationId xmlns:p14="http://schemas.microsoft.com/office/powerpoint/2010/main" val="164297081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 name="Rectangle 276"/>
          <p:cNvSpPr>
            <a:spLocks noChangeArrowheads="1"/>
          </p:cNvSpPr>
          <p:nvPr/>
        </p:nvSpPr>
        <p:spPr bwMode="auto">
          <a:xfrm>
            <a:off x="228600" y="1357598"/>
            <a:ext cx="8686800" cy="4937955"/>
          </a:xfrm>
          <a:prstGeom prst="rect">
            <a:avLst/>
          </a:prstGeom>
          <a:solidFill>
            <a:srgbClr val="002060"/>
          </a:solidFill>
          <a:ln>
            <a:noFill/>
          </a:ln>
        </p:spPr>
        <p:txBody>
          <a:bodyPr wrap="square" anchor="ctr">
            <a:spAutoFit/>
          </a:bodyPr>
          <a:lstStyle/>
          <a:p>
            <a:pPr marL="463550" indent="-463550" algn="just">
              <a:lnSpc>
                <a:spcPct val="120000"/>
              </a:lnSpc>
              <a:buFontTx/>
              <a:buChar char="•"/>
            </a:pPr>
            <a:r>
              <a:rPr lang="en-US" altLang="en-US" sz="2400" dirty="0"/>
              <a:t>Addresses how many units of a business’s profits must be sold for the business to “break even” and then start earning a profit. Items to include in this section:</a:t>
            </a:r>
          </a:p>
          <a:p>
            <a:pPr marL="914400" indent="-463550" algn="just">
              <a:lnSpc>
                <a:spcPct val="120000"/>
              </a:lnSpc>
              <a:buFontTx/>
              <a:buChar char="•"/>
            </a:pPr>
            <a:r>
              <a:rPr lang="en-US" altLang="en-US" sz="2400" dirty="0"/>
              <a:t>Revenue drivers and profit margins – </a:t>
            </a:r>
            <a:r>
              <a:rPr lang="en-US" sz="2400" dirty="0">
                <a:solidFill>
                  <a:srgbClr val="FFFF00"/>
                </a:solidFill>
              </a:rPr>
              <a:t>selling a single product or product plus</a:t>
            </a:r>
            <a:endParaRPr lang="en-US" altLang="en-US" sz="2400" dirty="0">
              <a:solidFill>
                <a:srgbClr val="FFFF00"/>
              </a:solidFill>
            </a:endParaRPr>
          </a:p>
          <a:p>
            <a:pPr marL="914400" indent="-463550" algn="just">
              <a:lnSpc>
                <a:spcPct val="120000"/>
              </a:lnSpc>
              <a:buFontTx/>
              <a:buChar char="•"/>
            </a:pPr>
            <a:r>
              <a:rPr lang="en-US" altLang="en-US" sz="2400" dirty="0"/>
              <a:t>Fixed and variable costs – </a:t>
            </a:r>
            <a:r>
              <a:rPr lang="en-US" sz="2400" dirty="0">
                <a:solidFill>
                  <a:srgbClr val="FFFF00"/>
                </a:solidFill>
              </a:rPr>
              <a:t>variable costs vary by sales, while its fixed costs are incurred whether it sells something or not</a:t>
            </a:r>
            <a:r>
              <a:rPr lang="en-US" sz="2400" dirty="0"/>
              <a:t> </a:t>
            </a:r>
            <a:endParaRPr lang="en-US" altLang="en-US" sz="2400" dirty="0"/>
          </a:p>
          <a:p>
            <a:pPr marL="914400" indent="-463550" algn="just">
              <a:lnSpc>
                <a:spcPct val="120000"/>
              </a:lnSpc>
              <a:buFontTx/>
              <a:buChar char="•"/>
            </a:pPr>
            <a:r>
              <a:rPr lang="en-US" altLang="en-US" sz="2400" dirty="0"/>
              <a:t>Start-up costs – </a:t>
            </a:r>
            <a:r>
              <a:rPr lang="en-US" sz="2400" dirty="0">
                <a:solidFill>
                  <a:srgbClr val="FFFF00"/>
                </a:solidFill>
              </a:rPr>
              <a:t>include legal expenses, fees for business licenses and permits, Web site design etc one-time expenses</a:t>
            </a:r>
            <a:endParaRPr lang="en-US" altLang="en-US" sz="2400" dirty="0">
              <a:solidFill>
                <a:srgbClr val="FFFF00"/>
              </a:solidFill>
            </a:endParaRPr>
          </a:p>
          <a:p>
            <a:pPr marL="914400" indent="-463550" algn="just">
              <a:lnSpc>
                <a:spcPct val="120000"/>
              </a:lnSpc>
              <a:buFontTx/>
              <a:buChar char="•"/>
            </a:pPr>
            <a:r>
              <a:rPr lang="en-US" altLang="en-US" sz="2400" dirty="0"/>
              <a:t>Break-even chart and calculations – </a:t>
            </a:r>
            <a:r>
              <a:rPr lang="en-US" sz="2400" dirty="0">
                <a:solidFill>
                  <a:srgbClr val="FFFF00"/>
                </a:solidFill>
              </a:rPr>
              <a:t>units to be sold before it breaks even and starts earning a profit</a:t>
            </a:r>
            <a:endParaRPr lang="en-US" altLang="en-US" sz="2400" dirty="0">
              <a:solidFill>
                <a:srgbClr val="FFFF00"/>
              </a:solidFill>
            </a:endParaRP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Economics of the Business</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
        <p:nvSpPr>
          <p:cNvPr id="8"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24</a:t>
            </a:fld>
            <a:endParaRPr lang="en-US" dirty="0"/>
          </a:p>
        </p:txBody>
      </p:sp>
    </p:spTree>
    <p:extLst>
      <p:ext uri="{BB962C8B-B14F-4D97-AF65-F5344CB8AC3E}">
        <p14:creationId xmlns:p14="http://schemas.microsoft.com/office/powerpoint/2010/main" val="164297081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 name="Rectangle 276"/>
          <p:cNvSpPr>
            <a:spLocks noChangeArrowheads="1"/>
          </p:cNvSpPr>
          <p:nvPr/>
        </p:nvSpPr>
        <p:spPr bwMode="auto">
          <a:xfrm>
            <a:off x="228600" y="914400"/>
            <a:ext cx="8686800" cy="3970318"/>
          </a:xfrm>
          <a:prstGeom prst="rect">
            <a:avLst/>
          </a:prstGeom>
          <a:solidFill>
            <a:srgbClr val="002060"/>
          </a:solidFill>
          <a:ln>
            <a:noFill/>
          </a:ln>
        </p:spPr>
        <p:txBody>
          <a:bodyPr wrap="square" anchor="ctr">
            <a:spAutoFit/>
          </a:bodyPr>
          <a:lstStyle/>
          <a:p>
            <a:pPr marL="463550" indent="-463550" algn="just">
              <a:lnSpc>
                <a:spcPct val="150000"/>
              </a:lnSpc>
              <a:buFontTx/>
              <a:buChar char="•"/>
            </a:pPr>
            <a:r>
              <a:rPr lang="en-US" altLang="en-US" sz="2400" dirty="0"/>
              <a:t>The marketing plan focuses on how the business will market and sell its product or service. Items to include in this section:</a:t>
            </a:r>
          </a:p>
          <a:p>
            <a:pPr marL="914400" indent="-450850" algn="just">
              <a:lnSpc>
                <a:spcPct val="150000"/>
              </a:lnSpc>
              <a:buFontTx/>
              <a:buChar char="•"/>
            </a:pPr>
            <a:r>
              <a:rPr lang="en-US" altLang="en-US" sz="2400" dirty="0"/>
              <a:t>Overall marketing strategy – </a:t>
            </a:r>
            <a:r>
              <a:rPr lang="en-US" sz="2400" dirty="0">
                <a:solidFill>
                  <a:srgbClr val="FFFF00"/>
                </a:solidFill>
              </a:rPr>
              <a:t>refers to its overall approach for marketing its products and services</a:t>
            </a:r>
            <a:endParaRPr lang="en-US" altLang="en-US" sz="2400" dirty="0">
              <a:solidFill>
                <a:srgbClr val="FFFF00"/>
              </a:solidFill>
            </a:endParaRPr>
          </a:p>
          <a:p>
            <a:pPr marL="914400" indent="-450850" algn="just">
              <a:lnSpc>
                <a:spcPct val="150000"/>
              </a:lnSpc>
              <a:buFontTx/>
              <a:buChar char="•"/>
            </a:pPr>
            <a:r>
              <a:rPr lang="en-US" altLang="en-US" sz="2400" dirty="0"/>
              <a:t>Product, price, promotions, and distribution – </a:t>
            </a:r>
            <a:r>
              <a:rPr lang="en-US" sz="2400" dirty="0">
                <a:solidFill>
                  <a:srgbClr val="FFFF00"/>
                </a:solidFill>
              </a:rPr>
              <a:t>should all be in sync with firm’s positioning and points of differentiation</a:t>
            </a:r>
            <a:endParaRPr lang="en-US" altLang="en-US" sz="2400" dirty="0">
              <a:solidFill>
                <a:srgbClr val="FFFF00"/>
              </a:solidFill>
            </a:endParaRPr>
          </a:p>
          <a:p>
            <a:pPr marL="914400" indent="-450850" algn="just">
              <a:lnSpc>
                <a:spcPct val="150000"/>
              </a:lnSpc>
              <a:buFontTx/>
              <a:buChar char="•"/>
            </a:pPr>
            <a:r>
              <a:rPr lang="en-US" altLang="en-US" sz="2400" dirty="0"/>
              <a:t>Sales process or Tactics – </a:t>
            </a:r>
            <a:r>
              <a:rPr lang="en-US" altLang="en-US" sz="2400" dirty="0">
                <a:solidFill>
                  <a:srgbClr val="FFFF00"/>
                </a:solidFill>
              </a:rPr>
              <a:t>The strategy adopted to sale </a:t>
            </a: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Marketing Plan</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
        <p:nvSpPr>
          <p:cNvPr id="8"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25</a:t>
            </a:fld>
            <a:endParaRPr lang="en-US" dirty="0"/>
          </a:p>
        </p:txBody>
      </p:sp>
    </p:spTree>
    <p:extLst>
      <p:ext uri="{BB962C8B-B14F-4D97-AF65-F5344CB8AC3E}">
        <p14:creationId xmlns:p14="http://schemas.microsoft.com/office/powerpoint/2010/main" val="164297081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24EB2FDA-17E4-4048-8FDD-6AB8CD8A7056}"/>
              </a:ext>
            </a:extLst>
          </p:cNvPr>
          <p:cNvPicPr>
            <a:picLocks noChangeAspect="1"/>
          </p:cNvPicPr>
          <p:nvPr/>
        </p:nvPicPr>
        <p:blipFill rotWithShape="1">
          <a:blip r:embed="rId2"/>
          <a:srcRect l="19091" t="9091"/>
          <a:stretch/>
        </p:blipFill>
        <p:spPr>
          <a:xfrm>
            <a:off x="20" y="10"/>
            <a:ext cx="9143980" cy="6857990"/>
          </a:xfrm>
          <a:prstGeom prst="rect">
            <a:avLst/>
          </a:prstGeom>
        </p:spPr>
      </p:pic>
      <p:sp>
        <p:nvSpPr>
          <p:cNvPr id="19" name="Rectangle 18">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7" y="-10136"/>
            <a:ext cx="4592270" cy="9144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8B8DCDB9-C427-407C-9D3C-09F3BD93F6D0}"/>
              </a:ext>
            </a:extLst>
          </p:cNvPr>
          <p:cNvSpPr>
            <a:spLocks noGrp="1"/>
          </p:cNvSpPr>
          <p:nvPr>
            <p:ph type="ctrTitle"/>
          </p:nvPr>
        </p:nvSpPr>
        <p:spPr>
          <a:xfrm>
            <a:off x="2822" y="0"/>
            <a:ext cx="6808922" cy="1364728"/>
          </a:xfrm>
        </p:spPr>
        <p:txBody>
          <a:bodyPr>
            <a:normAutofit/>
          </a:bodyPr>
          <a:lstStyle/>
          <a:p>
            <a:pPr algn="l">
              <a:lnSpc>
                <a:spcPct val="90000"/>
              </a:lnSpc>
            </a:pPr>
            <a:r>
              <a:rPr lang="en-US" dirty="0">
                <a:solidFill>
                  <a:schemeClr val="bg1"/>
                </a:solidFill>
              </a:rPr>
              <a:t>DOVE Promotion</a:t>
            </a:r>
          </a:p>
        </p:txBody>
      </p:sp>
      <p:sp>
        <p:nvSpPr>
          <p:cNvPr id="21" name="Rectangle: Rounded Corners 20">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3">
            <a:extLst>
              <a:ext uri="{FF2B5EF4-FFF2-40B4-BE49-F238E27FC236}">
                <a16:creationId xmlns:a16="http://schemas.microsoft.com/office/drawing/2014/main" id="{19E7158F-49A4-47D9-BA9C-6AC3A803617E}"/>
              </a:ext>
            </a:extLst>
          </p:cNvPr>
          <p:cNvSpPr>
            <a:spLocks noGrp="1"/>
          </p:cNvSpPr>
          <p:nvPr>
            <p:ph type="subTitle" idx="1"/>
          </p:nvPr>
        </p:nvSpPr>
        <p:spPr>
          <a:xfrm>
            <a:off x="0" y="5621451"/>
            <a:ext cx="6808922" cy="592975"/>
          </a:xfrm>
        </p:spPr>
        <p:txBody>
          <a:bodyPr anchor="ctr">
            <a:normAutofit fontScale="77500" lnSpcReduction="20000"/>
          </a:bodyPr>
          <a:lstStyle/>
          <a:p>
            <a:pPr algn="l"/>
            <a:r>
              <a:rPr lang="en-US" dirty="0"/>
              <a:t>https://www.youtube.com/watch?v=UjJALzZ24H0</a:t>
            </a:r>
          </a:p>
        </p:txBody>
      </p:sp>
      <p:sp>
        <p:nvSpPr>
          <p:cNvPr id="2" name="Slide Number Placeholder 1">
            <a:extLst>
              <a:ext uri="{FF2B5EF4-FFF2-40B4-BE49-F238E27FC236}">
                <a16:creationId xmlns:a16="http://schemas.microsoft.com/office/drawing/2014/main" id="{4D21AEB3-EA94-4D87-94F8-805568551730}"/>
              </a:ext>
            </a:extLst>
          </p:cNvPr>
          <p:cNvSpPr>
            <a:spLocks noGrp="1"/>
          </p:cNvSpPr>
          <p:nvPr>
            <p:ph type="sldNum" sz="quarter" idx="12"/>
          </p:nvPr>
        </p:nvSpPr>
        <p:spPr>
          <a:xfrm>
            <a:off x="6780899" y="6356350"/>
            <a:ext cx="2057400" cy="365125"/>
          </a:xfrm>
        </p:spPr>
        <p:txBody>
          <a:bodyPr>
            <a:normAutofit/>
          </a:bodyPr>
          <a:lstStyle/>
          <a:p>
            <a:pPr>
              <a:spcAft>
                <a:spcPts val="600"/>
              </a:spcAft>
              <a:defRPr/>
            </a:pPr>
            <a:fld id="{1BC07364-43B1-4953-8847-A6026C38780C}" type="slidenum">
              <a:rPr lang="en-US">
                <a:solidFill>
                  <a:schemeClr val="tx1"/>
                </a:solidFill>
              </a:rPr>
              <a:pPr>
                <a:spcAft>
                  <a:spcPts val="600"/>
                </a:spcAft>
                <a:defRPr/>
              </a:pPr>
              <a:t>26</a:t>
            </a:fld>
            <a:endParaRPr lang="en-US">
              <a:solidFill>
                <a:schemeClr val="tx1"/>
              </a:solidFill>
            </a:endParaRPr>
          </a:p>
        </p:txBody>
      </p:sp>
    </p:spTree>
    <p:extLst>
      <p:ext uri="{BB962C8B-B14F-4D97-AF65-F5344CB8AC3E}">
        <p14:creationId xmlns:p14="http://schemas.microsoft.com/office/powerpoint/2010/main" val="1193510034"/>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 name="Rectangle 276"/>
          <p:cNvSpPr>
            <a:spLocks noChangeArrowheads="1"/>
          </p:cNvSpPr>
          <p:nvPr/>
        </p:nvSpPr>
        <p:spPr bwMode="auto">
          <a:xfrm>
            <a:off x="228600" y="838200"/>
            <a:ext cx="8686800" cy="3416320"/>
          </a:xfrm>
          <a:prstGeom prst="rect">
            <a:avLst/>
          </a:prstGeom>
          <a:solidFill>
            <a:srgbClr val="002060"/>
          </a:solidFill>
          <a:ln>
            <a:noFill/>
          </a:ln>
        </p:spPr>
        <p:txBody>
          <a:bodyPr wrap="square" anchor="ctr">
            <a:spAutoFit/>
          </a:bodyPr>
          <a:lstStyle/>
          <a:p>
            <a:pPr marL="463550" indent="-463550" algn="just">
              <a:buFontTx/>
              <a:buChar char="•"/>
            </a:pPr>
            <a:r>
              <a:rPr lang="en-US" altLang="en-US" sz="2400" dirty="0"/>
              <a:t>Outlines how business will be run and how product or service will be produced</a:t>
            </a:r>
          </a:p>
          <a:p>
            <a:pPr marL="463550" indent="-463550" algn="just">
              <a:buFontTx/>
              <a:buChar char="•"/>
            </a:pPr>
            <a:r>
              <a:rPr lang="en-US" altLang="en-US" sz="2400" dirty="0"/>
              <a:t>A useful way to illustrate how your business will be run is to describe it in terms of </a:t>
            </a:r>
            <a:r>
              <a:rPr lang="en-US" altLang="en-US" sz="2400" dirty="0">
                <a:solidFill>
                  <a:srgbClr val="FFFF00"/>
                </a:solidFill>
              </a:rPr>
              <a:t>“back stage” </a:t>
            </a:r>
            <a:r>
              <a:rPr lang="en-US" altLang="en-US" sz="2400" dirty="0"/>
              <a:t>(unseen to the customer) and </a:t>
            </a:r>
            <a:r>
              <a:rPr lang="en-US" altLang="en-US" sz="2400" dirty="0">
                <a:solidFill>
                  <a:srgbClr val="FFFF00"/>
                </a:solidFill>
              </a:rPr>
              <a:t>“front stage” </a:t>
            </a:r>
            <a:r>
              <a:rPr lang="en-US" altLang="en-US" sz="2400" dirty="0"/>
              <a:t>(seen by the customer) activities</a:t>
            </a:r>
          </a:p>
          <a:p>
            <a:pPr marL="463550" indent="-463550" algn="just">
              <a:buFontTx/>
              <a:buChar char="•"/>
            </a:pPr>
            <a:r>
              <a:rPr lang="en-US" altLang="en-US" sz="2400" dirty="0"/>
              <a:t>Items to include in this section:-</a:t>
            </a:r>
          </a:p>
          <a:p>
            <a:pPr marL="914400" indent="-450850" algn="just">
              <a:buFontTx/>
              <a:buChar char="•"/>
            </a:pPr>
            <a:r>
              <a:rPr lang="en-US" altLang="en-US" sz="2400" dirty="0"/>
              <a:t>General approach to operations.</a:t>
            </a:r>
          </a:p>
          <a:p>
            <a:pPr marL="914400" indent="-450850" algn="just">
              <a:buFontTx/>
              <a:buChar char="•"/>
            </a:pPr>
            <a:r>
              <a:rPr lang="en-US" altLang="en-US" sz="2400" dirty="0"/>
              <a:t>Business location.</a:t>
            </a:r>
          </a:p>
          <a:p>
            <a:pPr marL="914400" indent="-450850" algn="just">
              <a:buFontTx/>
              <a:buChar char="•"/>
            </a:pPr>
            <a:r>
              <a:rPr lang="en-US" altLang="en-US" sz="2400" dirty="0"/>
              <a:t>Facilities and equipment.</a:t>
            </a: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Operations Plan</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
        <p:nvSpPr>
          <p:cNvPr id="8"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27</a:t>
            </a:fld>
            <a:endParaRPr lang="en-US" dirty="0"/>
          </a:p>
        </p:txBody>
      </p:sp>
      <p:pic>
        <p:nvPicPr>
          <p:cNvPr id="22530" name="Picture 2" descr="Related image"/>
          <p:cNvPicPr>
            <a:picLocks noChangeAspect="1" noChangeArrowheads="1"/>
          </p:cNvPicPr>
          <p:nvPr/>
        </p:nvPicPr>
        <p:blipFill>
          <a:blip r:embed="rId3" cstate="print"/>
          <a:srcRect/>
          <a:stretch>
            <a:fillRect/>
          </a:stretch>
        </p:blipFill>
        <p:spPr bwMode="auto">
          <a:xfrm>
            <a:off x="914400" y="4343400"/>
            <a:ext cx="7086600" cy="2514600"/>
          </a:xfrm>
          <a:prstGeom prst="rect">
            <a:avLst/>
          </a:prstGeom>
          <a:noFill/>
        </p:spPr>
      </p:pic>
    </p:spTree>
    <p:extLst>
      <p:ext uri="{BB962C8B-B14F-4D97-AF65-F5344CB8AC3E}">
        <p14:creationId xmlns:p14="http://schemas.microsoft.com/office/powerpoint/2010/main" val="164297081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Shape&#10;&#10;Description automatically generated">
            <a:extLst>
              <a:ext uri="{FF2B5EF4-FFF2-40B4-BE49-F238E27FC236}">
                <a16:creationId xmlns:a16="http://schemas.microsoft.com/office/drawing/2014/main" id="{01281056-AD4A-4941-A081-58A53E9CF93E}"/>
              </a:ext>
            </a:extLst>
          </p:cNvPr>
          <p:cNvPicPr>
            <a:picLocks noChangeAspect="1"/>
          </p:cNvPicPr>
          <p:nvPr/>
        </p:nvPicPr>
        <p:blipFill rotWithShape="1">
          <a:blip r:embed="rId2"/>
          <a:srcRect l="5641" r="11026"/>
          <a:stretch/>
        </p:blipFill>
        <p:spPr>
          <a:xfrm>
            <a:off x="20" y="10"/>
            <a:ext cx="9143980" cy="6857990"/>
          </a:xfrm>
          <a:prstGeom prst="rect">
            <a:avLst/>
          </a:prstGeom>
        </p:spPr>
      </p:pic>
      <p:sp>
        <p:nvSpPr>
          <p:cNvPr id="12" name="Rectangle 11">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7" y="-10136"/>
            <a:ext cx="4592270" cy="9144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0CFE5DE4-04B6-479F-95E8-7BAC6EDF4780}"/>
              </a:ext>
            </a:extLst>
          </p:cNvPr>
          <p:cNvSpPr>
            <a:spLocks noGrp="1"/>
          </p:cNvSpPr>
          <p:nvPr>
            <p:ph type="ctrTitle"/>
          </p:nvPr>
        </p:nvSpPr>
        <p:spPr>
          <a:xfrm>
            <a:off x="-19759" y="-34065"/>
            <a:ext cx="6019800" cy="1533193"/>
          </a:xfrm>
        </p:spPr>
        <p:txBody>
          <a:bodyPr>
            <a:normAutofit/>
          </a:bodyPr>
          <a:lstStyle/>
          <a:p>
            <a:pPr algn="l"/>
            <a:r>
              <a:rPr lang="en-US" sz="5700" dirty="0"/>
              <a:t>Operational Plan</a:t>
            </a:r>
          </a:p>
        </p:txBody>
      </p:sp>
      <p:sp>
        <p:nvSpPr>
          <p:cNvPr id="14" name="Rectangle: Rounded Corners 13">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3">
            <a:extLst>
              <a:ext uri="{FF2B5EF4-FFF2-40B4-BE49-F238E27FC236}">
                <a16:creationId xmlns:a16="http://schemas.microsoft.com/office/drawing/2014/main" id="{11C3FB4A-7DBF-48CA-86AD-ECE9A97B4F0F}"/>
              </a:ext>
            </a:extLst>
          </p:cNvPr>
          <p:cNvSpPr>
            <a:spLocks noGrp="1"/>
          </p:cNvSpPr>
          <p:nvPr>
            <p:ph type="subTitle" idx="1"/>
          </p:nvPr>
        </p:nvSpPr>
        <p:spPr>
          <a:xfrm>
            <a:off x="303414" y="5624945"/>
            <a:ext cx="6808922" cy="592975"/>
          </a:xfrm>
        </p:spPr>
        <p:txBody>
          <a:bodyPr anchor="ctr">
            <a:normAutofit fontScale="77500" lnSpcReduction="20000"/>
          </a:bodyPr>
          <a:lstStyle/>
          <a:p>
            <a:pPr algn="l"/>
            <a:r>
              <a:rPr lang="en-US" dirty="0"/>
              <a:t>https://www.youtube.com/watch?v=bcIjAIkeEwA</a:t>
            </a:r>
          </a:p>
        </p:txBody>
      </p:sp>
      <p:sp>
        <p:nvSpPr>
          <p:cNvPr id="2" name="Slide Number Placeholder 1">
            <a:extLst>
              <a:ext uri="{FF2B5EF4-FFF2-40B4-BE49-F238E27FC236}">
                <a16:creationId xmlns:a16="http://schemas.microsoft.com/office/drawing/2014/main" id="{649A18BD-E4D2-4593-8901-7AE55F81C434}"/>
              </a:ext>
            </a:extLst>
          </p:cNvPr>
          <p:cNvSpPr>
            <a:spLocks noGrp="1"/>
          </p:cNvSpPr>
          <p:nvPr>
            <p:ph type="sldNum" sz="quarter" idx="12"/>
          </p:nvPr>
        </p:nvSpPr>
        <p:spPr>
          <a:xfrm>
            <a:off x="6780899" y="6356350"/>
            <a:ext cx="2057400" cy="365125"/>
          </a:xfrm>
        </p:spPr>
        <p:txBody>
          <a:bodyPr>
            <a:normAutofit/>
          </a:bodyPr>
          <a:lstStyle/>
          <a:p>
            <a:pPr>
              <a:spcAft>
                <a:spcPts val="600"/>
              </a:spcAft>
              <a:defRPr/>
            </a:pPr>
            <a:fld id="{1BC07364-43B1-4953-8847-A6026C38780C}" type="slidenum">
              <a:rPr lang="en-US">
                <a:solidFill>
                  <a:schemeClr val="tx1"/>
                </a:solidFill>
              </a:rPr>
              <a:pPr>
                <a:spcAft>
                  <a:spcPts val="600"/>
                </a:spcAft>
                <a:defRPr/>
              </a:pPr>
              <a:t>28</a:t>
            </a:fld>
            <a:endParaRPr lang="en-US">
              <a:solidFill>
                <a:schemeClr val="tx1"/>
              </a:solidFill>
            </a:endParaRPr>
          </a:p>
        </p:txBody>
      </p:sp>
    </p:spTree>
    <p:extLst>
      <p:ext uri="{BB962C8B-B14F-4D97-AF65-F5344CB8AC3E}">
        <p14:creationId xmlns:p14="http://schemas.microsoft.com/office/powerpoint/2010/main" val="4276393293"/>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Operations Plan</a:t>
            </a:r>
          </a:p>
        </p:txBody>
      </p:sp>
      <p:pic>
        <p:nvPicPr>
          <p:cNvPr id="12"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grpSp>
        <p:nvGrpSpPr>
          <p:cNvPr id="2" name="Group 9"/>
          <p:cNvGrpSpPr/>
          <p:nvPr/>
        </p:nvGrpSpPr>
        <p:grpSpPr>
          <a:xfrm>
            <a:off x="76200" y="1752600"/>
            <a:ext cx="8763000" cy="2971800"/>
            <a:chOff x="152400" y="1879242"/>
            <a:chExt cx="8610600" cy="2971800"/>
          </a:xfrm>
        </p:grpSpPr>
        <p:sp>
          <p:nvSpPr>
            <p:cNvPr id="15364" name="Rectangle 5"/>
            <p:cNvSpPr>
              <a:spLocks noChangeArrowheads="1"/>
            </p:cNvSpPr>
            <p:nvPr/>
          </p:nvSpPr>
          <p:spPr bwMode="auto">
            <a:xfrm>
              <a:off x="3962400" y="1879242"/>
              <a:ext cx="4800600" cy="2971800"/>
            </a:xfrm>
            <a:prstGeom prst="rect">
              <a:avLst/>
            </a:prstGeom>
            <a:solidFill>
              <a:schemeClr val="bg2">
                <a:lumMod val="20000"/>
                <a:lumOff val="80000"/>
              </a:schemeClr>
            </a:solidFill>
            <a:ln w="9525">
              <a:solidFill>
                <a:schemeClr val="tx1"/>
              </a:solidFill>
              <a:miter lim="800000"/>
              <a:headEnd/>
              <a:tailEnd/>
            </a:ln>
          </p:spPr>
          <p:txBody>
            <a:bodyPr wrap="none" anchor="ctr"/>
            <a:lstStyle/>
            <a:p>
              <a:pPr algn="ctr" eaLnBrk="1" hangingPunct="1"/>
              <a:endParaRPr lang="en-US" altLang="en-US" sz="2400"/>
            </a:p>
          </p:txBody>
        </p:sp>
        <p:grpSp>
          <p:nvGrpSpPr>
            <p:cNvPr id="3" name="Group 13"/>
            <p:cNvGrpSpPr/>
            <p:nvPr/>
          </p:nvGrpSpPr>
          <p:grpSpPr>
            <a:xfrm>
              <a:off x="152400" y="2565042"/>
              <a:ext cx="3810000" cy="1600200"/>
              <a:chOff x="152400" y="2565042"/>
              <a:chExt cx="3810000" cy="1600200"/>
            </a:xfrm>
          </p:grpSpPr>
          <p:sp>
            <p:nvSpPr>
              <p:cNvPr id="13" name="Right Arrow 12"/>
              <p:cNvSpPr/>
              <p:nvPr/>
            </p:nvSpPr>
            <p:spPr>
              <a:xfrm>
                <a:off x="381000" y="2565042"/>
                <a:ext cx="3581400" cy="1600200"/>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363" name="Text Box 4"/>
              <p:cNvSpPr txBox="1">
                <a:spLocks noChangeArrowheads="1"/>
              </p:cNvSpPr>
              <p:nvPr/>
            </p:nvSpPr>
            <p:spPr bwMode="auto">
              <a:xfrm>
                <a:off x="152400" y="3047067"/>
                <a:ext cx="3505200" cy="584775"/>
              </a:xfrm>
              <a:prstGeom prst="rect">
                <a:avLst/>
              </a:prstGeom>
              <a:noFill/>
              <a:ln w="9525">
                <a:noFill/>
                <a:miter lim="800000"/>
                <a:headEnd/>
                <a:tailEnd/>
              </a:ln>
            </p:spPr>
            <p:txBody>
              <a:bodyPr wrap="square">
                <a:spAutoFit/>
              </a:bodyPr>
              <a:lstStyle/>
              <a:p>
                <a:pPr algn="ctr"/>
                <a:r>
                  <a:rPr lang="en-US" altLang="en-US" sz="3200" b="1" dirty="0">
                    <a:solidFill>
                      <a:srgbClr val="FFFF00"/>
                    </a:solidFill>
                  </a:rPr>
                  <a:t>Key Takeaways</a:t>
                </a:r>
              </a:p>
            </p:txBody>
          </p:sp>
        </p:grpSp>
      </p:grpSp>
      <p:sp>
        <p:nvSpPr>
          <p:cNvPr id="14" name="TextBox 12"/>
          <p:cNvSpPr txBox="1">
            <a:spLocks noChangeArrowheads="1"/>
          </p:cNvSpPr>
          <p:nvPr/>
        </p:nvSpPr>
        <p:spPr bwMode="auto">
          <a:xfrm>
            <a:off x="4038600" y="2057400"/>
            <a:ext cx="4724400" cy="2308324"/>
          </a:xfrm>
          <a:prstGeom prst="rect">
            <a:avLst/>
          </a:prstGeom>
          <a:noFill/>
          <a:ln w="9525">
            <a:noFill/>
            <a:miter lim="800000"/>
            <a:headEnd/>
            <a:tailEnd/>
          </a:ln>
        </p:spPr>
        <p:txBody>
          <a:bodyPr wrap="square">
            <a:spAutoFit/>
          </a:bodyPr>
          <a:lstStyle/>
          <a:p>
            <a:pPr marL="282575" indent="-282575" algn="just" eaLnBrk="1" hangingPunct="1">
              <a:buFontTx/>
              <a:buChar char="•"/>
            </a:pPr>
            <a:r>
              <a:rPr lang="en-US" altLang="en-US" sz="2400" dirty="0">
                <a:solidFill>
                  <a:schemeClr val="bg1"/>
                </a:solidFill>
              </a:rPr>
              <a:t>Need to strike a careful balance between adequately describing this topic and providing too much detail</a:t>
            </a:r>
          </a:p>
          <a:p>
            <a:pPr marL="282575" indent="-282575" eaLnBrk="1" hangingPunct="1">
              <a:buFontTx/>
              <a:buChar char="•"/>
            </a:pPr>
            <a:r>
              <a:rPr lang="en-US" altLang="en-US" sz="2400" dirty="0">
                <a:solidFill>
                  <a:schemeClr val="bg1"/>
                </a:solidFill>
              </a:rPr>
              <a:t>As a result, it is best to keep this section short and crisp</a:t>
            </a:r>
          </a:p>
        </p:txBody>
      </p:sp>
      <p:sp>
        <p:nvSpPr>
          <p:cNvPr id="15"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 name="Rectangle 276"/>
          <p:cNvSpPr>
            <a:spLocks noChangeArrowheads="1"/>
          </p:cNvSpPr>
          <p:nvPr/>
        </p:nvSpPr>
        <p:spPr bwMode="auto">
          <a:xfrm>
            <a:off x="228600" y="838200"/>
            <a:ext cx="8686800" cy="3970318"/>
          </a:xfrm>
          <a:prstGeom prst="rect">
            <a:avLst/>
          </a:prstGeom>
          <a:solidFill>
            <a:srgbClr val="002060"/>
          </a:solidFill>
          <a:ln>
            <a:noFill/>
          </a:ln>
        </p:spPr>
        <p:txBody>
          <a:bodyPr wrap="square" anchor="ctr">
            <a:spAutoFit/>
          </a:bodyPr>
          <a:lstStyle/>
          <a:p>
            <a:pPr marL="463550" indent="-463550" algn="just">
              <a:lnSpc>
                <a:spcPct val="150000"/>
              </a:lnSpc>
              <a:buFontTx/>
              <a:buChar char="•"/>
            </a:pPr>
            <a:r>
              <a:rPr lang="en-US" altLang="en-US" sz="2400" dirty="0"/>
              <a:t>The management team of a new venture typically consists of the founder or founders and a handful of key management personnel. Items to include in this section:-</a:t>
            </a:r>
          </a:p>
          <a:p>
            <a:pPr marL="914400" indent="-463550" algn="just">
              <a:lnSpc>
                <a:spcPct val="150000"/>
              </a:lnSpc>
              <a:buFontTx/>
              <a:buChar char="•"/>
            </a:pPr>
            <a:r>
              <a:rPr lang="en-US" altLang="en-US" sz="2400" dirty="0"/>
              <a:t>Management team</a:t>
            </a:r>
          </a:p>
          <a:p>
            <a:pPr marL="914400" indent="-463550" algn="just">
              <a:lnSpc>
                <a:spcPct val="150000"/>
              </a:lnSpc>
              <a:buFontTx/>
              <a:buChar char="•"/>
            </a:pPr>
            <a:r>
              <a:rPr lang="en-US" altLang="en-US" sz="2400" dirty="0"/>
              <a:t>Board of directors</a:t>
            </a:r>
          </a:p>
          <a:p>
            <a:pPr marL="914400" indent="-463550" algn="just">
              <a:lnSpc>
                <a:spcPct val="150000"/>
              </a:lnSpc>
              <a:buFontTx/>
              <a:buChar char="•"/>
            </a:pPr>
            <a:r>
              <a:rPr lang="en-US" altLang="en-US" sz="2400" dirty="0"/>
              <a:t>Board of advisers</a:t>
            </a:r>
          </a:p>
          <a:p>
            <a:pPr marL="914400" indent="-463550" algn="just">
              <a:lnSpc>
                <a:spcPct val="150000"/>
              </a:lnSpc>
              <a:buFontTx/>
              <a:buChar char="•"/>
            </a:pPr>
            <a:r>
              <a:rPr lang="en-US" altLang="en-US" sz="2400" dirty="0"/>
              <a:t>Company structure</a:t>
            </a: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        Management Team &amp; Company Structure</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
        <p:nvSpPr>
          <p:cNvPr id="8"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30</a:t>
            </a:fld>
            <a:endParaRPr lang="en-US" dirty="0"/>
          </a:p>
        </p:txBody>
      </p:sp>
      <p:pic>
        <p:nvPicPr>
          <p:cNvPr id="20482" name="Picture 2" descr="Image result for company structure"/>
          <p:cNvPicPr>
            <a:picLocks noChangeAspect="1" noChangeArrowheads="1"/>
          </p:cNvPicPr>
          <p:nvPr/>
        </p:nvPicPr>
        <p:blipFill>
          <a:blip r:embed="rId3" cstate="print"/>
          <a:srcRect/>
          <a:stretch>
            <a:fillRect/>
          </a:stretch>
        </p:blipFill>
        <p:spPr bwMode="auto">
          <a:xfrm>
            <a:off x="3886200" y="2590800"/>
            <a:ext cx="5029200" cy="4267200"/>
          </a:xfrm>
          <a:prstGeom prst="rect">
            <a:avLst/>
          </a:prstGeom>
          <a:noFill/>
        </p:spPr>
      </p:pic>
    </p:spTree>
    <p:extLst>
      <p:ext uri="{BB962C8B-B14F-4D97-AF65-F5344CB8AC3E}">
        <p14:creationId xmlns:p14="http://schemas.microsoft.com/office/powerpoint/2010/main" val="164297081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        Management Team &amp; Company Structure</a:t>
            </a:r>
          </a:p>
        </p:txBody>
      </p:sp>
      <p:pic>
        <p:nvPicPr>
          <p:cNvPr id="12"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grpSp>
        <p:nvGrpSpPr>
          <p:cNvPr id="2" name="Group 9"/>
          <p:cNvGrpSpPr/>
          <p:nvPr/>
        </p:nvGrpSpPr>
        <p:grpSpPr>
          <a:xfrm>
            <a:off x="76200" y="1752600"/>
            <a:ext cx="8763000" cy="3886200"/>
            <a:chOff x="152400" y="1879242"/>
            <a:chExt cx="8610600" cy="3886200"/>
          </a:xfrm>
        </p:grpSpPr>
        <p:sp>
          <p:nvSpPr>
            <p:cNvPr id="15364" name="Rectangle 5"/>
            <p:cNvSpPr>
              <a:spLocks noChangeArrowheads="1"/>
            </p:cNvSpPr>
            <p:nvPr/>
          </p:nvSpPr>
          <p:spPr bwMode="auto">
            <a:xfrm>
              <a:off x="3962400" y="1879242"/>
              <a:ext cx="4800600" cy="3886200"/>
            </a:xfrm>
            <a:prstGeom prst="rect">
              <a:avLst/>
            </a:prstGeom>
            <a:solidFill>
              <a:schemeClr val="bg2">
                <a:lumMod val="20000"/>
                <a:lumOff val="80000"/>
              </a:schemeClr>
            </a:solidFill>
            <a:ln w="9525">
              <a:solidFill>
                <a:schemeClr val="tx1"/>
              </a:solidFill>
              <a:miter lim="800000"/>
              <a:headEnd/>
              <a:tailEnd/>
            </a:ln>
          </p:spPr>
          <p:txBody>
            <a:bodyPr wrap="none" anchor="ctr"/>
            <a:lstStyle/>
            <a:p>
              <a:pPr algn="ctr" eaLnBrk="1" hangingPunct="1"/>
              <a:endParaRPr lang="en-US" altLang="en-US" sz="2400"/>
            </a:p>
          </p:txBody>
        </p:sp>
        <p:grpSp>
          <p:nvGrpSpPr>
            <p:cNvPr id="3" name="Group 13"/>
            <p:cNvGrpSpPr/>
            <p:nvPr/>
          </p:nvGrpSpPr>
          <p:grpSpPr>
            <a:xfrm>
              <a:off x="152400" y="2565042"/>
              <a:ext cx="3810000" cy="1600200"/>
              <a:chOff x="152400" y="2565042"/>
              <a:chExt cx="3810000" cy="1600200"/>
            </a:xfrm>
          </p:grpSpPr>
          <p:sp>
            <p:nvSpPr>
              <p:cNvPr id="13" name="Right Arrow 12"/>
              <p:cNvSpPr/>
              <p:nvPr/>
            </p:nvSpPr>
            <p:spPr>
              <a:xfrm>
                <a:off x="381000" y="2565042"/>
                <a:ext cx="3581400" cy="1600200"/>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363" name="Text Box 4"/>
              <p:cNvSpPr txBox="1">
                <a:spLocks noChangeArrowheads="1"/>
              </p:cNvSpPr>
              <p:nvPr/>
            </p:nvSpPr>
            <p:spPr bwMode="auto">
              <a:xfrm>
                <a:off x="152400" y="3047067"/>
                <a:ext cx="3505200" cy="584775"/>
              </a:xfrm>
              <a:prstGeom prst="rect">
                <a:avLst/>
              </a:prstGeom>
              <a:noFill/>
              <a:ln w="9525">
                <a:noFill/>
                <a:miter lim="800000"/>
                <a:headEnd/>
                <a:tailEnd/>
              </a:ln>
            </p:spPr>
            <p:txBody>
              <a:bodyPr wrap="square">
                <a:spAutoFit/>
              </a:bodyPr>
              <a:lstStyle/>
              <a:p>
                <a:pPr algn="ctr"/>
                <a:r>
                  <a:rPr lang="en-US" altLang="en-US" sz="3200" b="1" dirty="0">
                    <a:solidFill>
                      <a:srgbClr val="FFFF00"/>
                    </a:solidFill>
                  </a:rPr>
                  <a:t>Key Takeaways</a:t>
                </a:r>
              </a:p>
            </p:txBody>
          </p:sp>
        </p:grpSp>
      </p:grpSp>
      <p:sp>
        <p:nvSpPr>
          <p:cNvPr id="15" name="TextBox 12"/>
          <p:cNvSpPr txBox="1">
            <a:spLocks noChangeArrowheads="1"/>
          </p:cNvSpPr>
          <p:nvPr/>
        </p:nvSpPr>
        <p:spPr bwMode="auto">
          <a:xfrm>
            <a:off x="4038600" y="2057400"/>
            <a:ext cx="4724400" cy="3416320"/>
          </a:xfrm>
          <a:prstGeom prst="rect">
            <a:avLst/>
          </a:prstGeom>
          <a:noFill/>
          <a:ln w="9525">
            <a:noFill/>
            <a:miter lim="800000"/>
            <a:headEnd/>
            <a:tailEnd/>
          </a:ln>
        </p:spPr>
        <p:txBody>
          <a:bodyPr wrap="square">
            <a:spAutoFit/>
          </a:bodyPr>
          <a:lstStyle/>
          <a:p>
            <a:pPr marL="282575" indent="-282575" algn="just" eaLnBrk="1" hangingPunct="1">
              <a:buFontTx/>
              <a:buChar char="•"/>
            </a:pPr>
            <a:r>
              <a:rPr lang="en-US" altLang="en-US" sz="2400" dirty="0">
                <a:solidFill>
                  <a:schemeClr val="bg1"/>
                </a:solidFill>
              </a:rPr>
              <a:t>This is a critical section of a business plan.</a:t>
            </a:r>
          </a:p>
          <a:p>
            <a:pPr marL="282575" indent="-282575" algn="just" eaLnBrk="1" hangingPunct="1">
              <a:buFontTx/>
              <a:buChar char="•"/>
            </a:pPr>
            <a:r>
              <a:rPr lang="en-US" altLang="en-US" sz="2400" dirty="0">
                <a:solidFill>
                  <a:schemeClr val="bg1"/>
                </a:solidFill>
              </a:rPr>
              <a:t>Many investors and others who read the business plan look first at the executive summary and then go directly to the management team section to assess the strength of the people starting the firm</a:t>
            </a:r>
          </a:p>
        </p:txBody>
      </p:sp>
      <p:sp>
        <p:nvSpPr>
          <p:cNvPr id="14"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 name="Rectangle 276"/>
          <p:cNvSpPr>
            <a:spLocks noChangeArrowheads="1"/>
          </p:cNvSpPr>
          <p:nvPr/>
        </p:nvSpPr>
        <p:spPr bwMode="auto">
          <a:xfrm>
            <a:off x="228600" y="914400"/>
            <a:ext cx="8686800" cy="5732018"/>
          </a:xfrm>
          <a:prstGeom prst="rect">
            <a:avLst/>
          </a:prstGeom>
          <a:solidFill>
            <a:srgbClr val="002060"/>
          </a:solidFill>
          <a:ln>
            <a:noFill/>
          </a:ln>
        </p:spPr>
        <p:txBody>
          <a:bodyPr wrap="square" anchor="ctr">
            <a:spAutoFit/>
          </a:bodyPr>
          <a:lstStyle/>
          <a:p>
            <a:pPr marL="463550" indent="-463550" algn="just">
              <a:lnSpc>
                <a:spcPct val="140000"/>
              </a:lnSpc>
              <a:buFontTx/>
              <a:buChar char="•"/>
            </a:pPr>
            <a:r>
              <a:rPr lang="en-US" altLang="en-US" sz="2400" dirty="0"/>
              <a:t>A schedule should be prepared that shows the major events required to launch the business</a:t>
            </a:r>
          </a:p>
          <a:p>
            <a:pPr marL="463550" indent="-463550" algn="just">
              <a:lnSpc>
                <a:spcPct val="140000"/>
              </a:lnSpc>
              <a:buFontTx/>
              <a:buChar char="•"/>
            </a:pPr>
            <a:r>
              <a:rPr lang="en-US" altLang="en-US" sz="2400" dirty="0"/>
              <a:t>The schedule should be in the format of milestones critical to the business’s success</a:t>
            </a:r>
          </a:p>
          <a:p>
            <a:pPr marL="463550" indent="-463550" algn="just">
              <a:lnSpc>
                <a:spcPct val="140000"/>
              </a:lnSpc>
              <a:buFontTx/>
              <a:buChar char="•"/>
            </a:pPr>
            <a:r>
              <a:rPr lang="en-US" altLang="en-US" sz="2400" dirty="0">
                <a:solidFill>
                  <a:srgbClr val="FFFF00"/>
                </a:solidFill>
              </a:rPr>
              <a:t>Examples of milestones:-</a:t>
            </a:r>
          </a:p>
          <a:p>
            <a:pPr marL="914400" indent="-463550" algn="just">
              <a:lnSpc>
                <a:spcPct val="140000"/>
              </a:lnSpc>
              <a:buFont typeface="Wingdings" pitchFamily="2" charset="2"/>
              <a:buChar char="ü"/>
            </a:pPr>
            <a:r>
              <a:rPr lang="en-US" altLang="en-US" sz="2400" dirty="0">
                <a:solidFill>
                  <a:srgbClr val="FFFF00"/>
                </a:solidFill>
              </a:rPr>
              <a:t>Incorporating the venture.</a:t>
            </a:r>
          </a:p>
          <a:p>
            <a:pPr marL="914400" indent="-463550" algn="just">
              <a:lnSpc>
                <a:spcPct val="140000"/>
              </a:lnSpc>
              <a:buFont typeface="Wingdings" pitchFamily="2" charset="2"/>
              <a:buChar char="ü"/>
            </a:pPr>
            <a:r>
              <a:rPr lang="en-US" altLang="en-US" sz="2400" dirty="0">
                <a:solidFill>
                  <a:srgbClr val="FFFF00"/>
                </a:solidFill>
              </a:rPr>
              <a:t>Completion of prototypes.</a:t>
            </a:r>
          </a:p>
          <a:p>
            <a:pPr marL="914400" indent="-463550" algn="just">
              <a:lnSpc>
                <a:spcPct val="140000"/>
              </a:lnSpc>
              <a:buFont typeface="Wingdings" pitchFamily="2" charset="2"/>
              <a:buChar char="ü"/>
            </a:pPr>
            <a:r>
              <a:rPr lang="en-US" altLang="en-US" sz="2400" dirty="0">
                <a:solidFill>
                  <a:srgbClr val="FFFF00"/>
                </a:solidFill>
              </a:rPr>
              <a:t>Rental of facilities.</a:t>
            </a:r>
          </a:p>
          <a:p>
            <a:pPr marL="914400" indent="-463550" algn="just">
              <a:lnSpc>
                <a:spcPct val="140000"/>
              </a:lnSpc>
              <a:buFont typeface="Wingdings" pitchFamily="2" charset="2"/>
              <a:buChar char="ü"/>
            </a:pPr>
            <a:r>
              <a:rPr lang="en-US" altLang="en-US" sz="2400" dirty="0">
                <a:solidFill>
                  <a:srgbClr val="FFFF00"/>
                </a:solidFill>
              </a:rPr>
              <a:t>Obtaining critical financing.</a:t>
            </a:r>
          </a:p>
          <a:p>
            <a:pPr marL="914400" indent="-463550" algn="just">
              <a:lnSpc>
                <a:spcPct val="140000"/>
              </a:lnSpc>
              <a:buFont typeface="Wingdings" pitchFamily="2" charset="2"/>
              <a:buChar char="ü"/>
            </a:pPr>
            <a:r>
              <a:rPr lang="en-US" altLang="en-US" sz="2400" dirty="0">
                <a:solidFill>
                  <a:srgbClr val="FFFF00"/>
                </a:solidFill>
              </a:rPr>
              <a:t>Starting production.</a:t>
            </a:r>
          </a:p>
          <a:p>
            <a:pPr marL="914400" indent="-463550" algn="just">
              <a:lnSpc>
                <a:spcPct val="140000"/>
              </a:lnSpc>
              <a:buFont typeface="Wingdings" pitchFamily="2" charset="2"/>
              <a:buChar char="ü"/>
            </a:pPr>
            <a:r>
              <a:rPr lang="en-US" altLang="en-US" sz="2400" dirty="0">
                <a:solidFill>
                  <a:srgbClr val="FFFF00"/>
                </a:solidFill>
              </a:rPr>
              <a:t>Obtaining the first sale.</a:t>
            </a:r>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 Overall Schedule</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
        <p:nvSpPr>
          <p:cNvPr id="8"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32</a:t>
            </a:fld>
            <a:endParaRPr lang="en-US" dirty="0"/>
          </a:p>
        </p:txBody>
      </p:sp>
    </p:spTree>
    <p:extLst>
      <p:ext uri="{BB962C8B-B14F-4D97-AF65-F5344CB8AC3E}">
        <p14:creationId xmlns:p14="http://schemas.microsoft.com/office/powerpoint/2010/main" val="164297081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Overall Schedule</a:t>
            </a:r>
          </a:p>
        </p:txBody>
      </p:sp>
      <p:pic>
        <p:nvPicPr>
          <p:cNvPr id="12"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grpSp>
        <p:nvGrpSpPr>
          <p:cNvPr id="2" name="Group 9"/>
          <p:cNvGrpSpPr/>
          <p:nvPr/>
        </p:nvGrpSpPr>
        <p:grpSpPr>
          <a:xfrm>
            <a:off x="76200" y="1752600"/>
            <a:ext cx="8763000" cy="3886200"/>
            <a:chOff x="152400" y="1879242"/>
            <a:chExt cx="8610600" cy="3886200"/>
          </a:xfrm>
        </p:grpSpPr>
        <p:sp>
          <p:nvSpPr>
            <p:cNvPr id="15364" name="Rectangle 5"/>
            <p:cNvSpPr>
              <a:spLocks noChangeArrowheads="1"/>
            </p:cNvSpPr>
            <p:nvPr/>
          </p:nvSpPr>
          <p:spPr bwMode="auto">
            <a:xfrm>
              <a:off x="3962400" y="1879242"/>
              <a:ext cx="4800600" cy="3886200"/>
            </a:xfrm>
            <a:prstGeom prst="rect">
              <a:avLst/>
            </a:prstGeom>
            <a:solidFill>
              <a:schemeClr val="bg2">
                <a:lumMod val="20000"/>
                <a:lumOff val="80000"/>
              </a:schemeClr>
            </a:solidFill>
            <a:ln w="9525">
              <a:solidFill>
                <a:schemeClr val="tx1"/>
              </a:solidFill>
              <a:miter lim="800000"/>
              <a:headEnd/>
              <a:tailEnd/>
            </a:ln>
          </p:spPr>
          <p:txBody>
            <a:bodyPr wrap="none" anchor="ctr"/>
            <a:lstStyle/>
            <a:p>
              <a:pPr algn="ctr" eaLnBrk="1" hangingPunct="1"/>
              <a:endParaRPr lang="en-US" altLang="en-US" sz="2400"/>
            </a:p>
          </p:txBody>
        </p:sp>
        <p:grpSp>
          <p:nvGrpSpPr>
            <p:cNvPr id="3" name="Group 13"/>
            <p:cNvGrpSpPr/>
            <p:nvPr/>
          </p:nvGrpSpPr>
          <p:grpSpPr>
            <a:xfrm>
              <a:off x="152400" y="2565042"/>
              <a:ext cx="3810000" cy="1600200"/>
              <a:chOff x="152400" y="2565042"/>
              <a:chExt cx="3810000" cy="1600200"/>
            </a:xfrm>
          </p:grpSpPr>
          <p:sp>
            <p:nvSpPr>
              <p:cNvPr id="13" name="Right Arrow 12"/>
              <p:cNvSpPr/>
              <p:nvPr/>
            </p:nvSpPr>
            <p:spPr>
              <a:xfrm>
                <a:off x="381000" y="2565042"/>
                <a:ext cx="3581400" cy="1600200"/>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5363" name="Text Box 4"/>
              <p:cNvSpPr txBox="1">
                <a:spLocks noChangeArrowheads="1"/>
              </p:cNvSpPr>
              <p:nvPr/>
            </p:nvSpPr>
            <p:spPr bwMode="auto">
              <a:xfrm>
                <a:off x="152400" y="3047067"/>
                <a:ext cx="3505200" cy="584775"/>
              </a:xfrm>
              <a:prstGeom prst="rect">
                <a:avLst/>
              </a:prstGeom>
              <a:noFill/>
              <a:ln w="9525">
                <a:noFill/>
                <a:miter lim="800000"/>
                <a:headEnd/>
                <a:tailEnd/>
              </a:ln>
            </p:spPr>
            <p:txBody>
              <a:bodyPr wrap="square">
                <a:spAutoFit/>
              </a:bodyPr>
              <a:lstStyle/>
              <a:p>
                <a:pPr algn="ctr"/>
                <a:r>
                  <a:rPr lang="en-US" altLang="en-US" sz="3200" b="1" dirty="0">
                    <a:solidFill>
                      <a:srgbClr val="FFFF00"/>
                    </a:solidFill>
                  </a:rPr>
                  <a:t>Key Takeaways</a:t>
                </a:r>
              </a:p>
            </p:txBody>
          </p:sp>
        </p:grpSp>
      </p:grpSp>
      <p:sp>
        <p:nvSpPr>
          <p:cNvPr id="17" name="TextBox 12"/>
          <p:cNvSpPr txBox="1">
            <a:spLocks noChangeArrowheads="1"/>
          </p:cNvSpPr>
          <p:nvPr/>
        </p:nvSpPr>
        <p:spPr bwMode="auto">
          <a:xfrm>
            <a:off x="4038600" y="2057400"/>
            <a:ext cx="4724400" cy="3046988"/>
          </a:xfrm>
          <a:prstGeom prst="rect">
            <a:avLst/>
          </a:prstGeom>
          <a:noFill/>
          <a:ln w="9525">
            <a:noFill/>
            <a:miter lim="800000"/>
            <a:headEnd/>
            <a:tailEnd/>
          </a:ln>
        </p:spPr>
        <p:txBody>
          <a:bodyPr wrap="square">
            <a:spAutoFit/>
          </a:bodyPr>
          <a:lstStyle/>
          <a:p>
            <a:pPr marL="282575" indent="-282575" algn="just" eaLnBrk="1" hangingPunct="1">
              <a:buFontTx/>
              <a:buChar char="•"/>
              <a:tabLst>
                <a:tab pos="282575" algn="l"/>
              </a:tabLst>
            </a:pPr>
            <a:r>
              <a:rPr lang="en-US" altLang="en-US" sz="2400" dirty="0">
                <a:solidFill>
                  <a:schemeClr val="bg1"/>
                </a:solidFill>
              </a:rPr>
              <a:t>An effectively prepared and presented schedule can be extremely helpful in convincing potential investors that the  management team is aware of  what needs to take place to launch the venture and has a plan in place to get there.</a:t>
            </a:r>
          </a:p>
        </p:txBody>
      </p:sp>
      <p:sp>
        <p:nvSpPr>
          <p:cNvPr id="14"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5300" name="Slide Number Placeholder 5"/>
          <p:cNvSpPr>
            <a:spLocks noGrp="1"/>
          </p:cNvSpPr>
          <p:nvPr>
            <p:ph type="sldNum" sz="quarter" idx="12"/>
          </p:nvPr>
        </p:nvSpPr>
        <p:spPr>
          <a:xfrm>
            <a:off x="8534400" y="6400801"/>
            <a:ext cx="580698" cy="457199"/>
          </a:xfrm>
          <a:noFill/>
        </p:spPr>
        <p:txBody>
          <a:bodyPr/>
          <a:lstStyle/>
          <a:p>
            <a:fld id="{C9D662BD-E075-4167-A29B-D0062BD63688}" type="slidenum">
              <a:rPr lang="en-US" smtClean="0"/>
              <a:pPr/>
              <a:t>34</a:t>
            </a:fld>
            <a:endParaRPr lang="en-US" dirty="0"/>
          </a:p>
        </p:txBody>
      </p:sp>
      <p:sp>
        <p:nvSpPr>
          <p:cNvPr id="5" name="Rectangle 276"/>
          <p:cNvSpPr>
            <a:spLocks noChangeArrowheads="1"/>
          </p:cNvSpPr>
          <p:nvPr/>
        </p:nvSpPr>
        <p:spPr bwMode="auto">
          <a:xfrm>
            <a:off x="228600" y="1172932"/>
            <a:ext cx="8686800" cy="5214954"/>
          </a:xfrm>
          <a:prstGeom prst="rect">
            <a:avLst/>
          </a:prstGeom>
          <a:solidFill>
            <a:srgbClr val="002060"/>
          </a:solidFill>
          <a:ln>
            <a:noFill/>
          </a:ln>
        </p:spPr>
        <p:txBody>
          <a:bodyPr wrap="square" anchor="ctr">
            <a:spAutoFit/>
          </a:bodyPr>
          <a:lstStyle/>
          <a:p>
            <a:pPr marL="463550" indent="-463550" algn="just">
              <a:lnSpc>
                <a:spcPct val="140000"/>
              </a:lnSpc>
              <a:buFontTx/>
              <a:buChar char="•"/>
            </a:pPr>
            <a:r>
              <a:rPr lang="en-US" altLang="en-US" sz="2400" dirty="0"/>
              <a:t>The final section of a business plan presents a firm’s pro forma (or projected) financial projections. Items to include in this section:-</a:t>
            </a:r>
          </a:p>
          <a:p>
            <a:pPr marL="914400" indent="-463550" algn="just">
              <a:lnSpc>
                <a:spcPct val="140000"/>
              </a:lnSpc>
              <a:buFontTx/>
              <a:buChar char="•"/>
            </a:pPr>
            <a:r>
              <a:rPr lang="en-US" altLang="en-US" sz="2400" dirty="0">
                <a:solidFill>
                  <a:srgbClr val="FFFF00"/>
                </a:solidFill>
              </a:rPr>
              <a:t>Sources and uses of funds statement.</a:t>
            </a:r>
          </a:p>
          <a:p>
            <a:pPr marL="914400" indent="-463550" algn="just">
              <a:lnSpc>
                <a:spcPct val="140000"/>
              </a:lnSpc>
              <a:buFontTx/>
              <a:buChar char="•"/>
            </a:pPr>
            <a:r>
              <a:rPr lang="en-US" altLang="en-US" sz="2400" dirty="0">
                <a:solidFill>
                  <a:srgbClr val="FFFF00"/>
                </a:solidFill>
              </a:rPr>
              <a:t>Assumptions sheet.</a:t>
            </a:r>
          </a:p>
          <a:p>
            <a:pPr marL="914400" indent="-463550" algn="just">
              <a:lnSpc>
                <a:spcPct val="140000"/>
              </a:lnSpc>
              <a:buFontTx/>
              <a:buChar char="•"/>
            </a:pPr>
            <a:r>
              <a:rPr lang="en-US" altLang="en-US" sz="2400" dirty="0">
                <a:solidFill>
                  <a:srgbClr val="FFFF00"/>
                </a:solidFill>
              </a:rPr>
              <a:t>Pro forma income statements.</a:t>
            </a:r>
          </a:p>
          <a:p>
            <a:pPr marL="914400" indent="-463550" algn="just">
              <a:lnSpc>
                <a:spcPct val="140000"/>
              </a:lnSpc>
              <a:buFontTx/>
              <a:buChar char="•"/>
            </a:pPr>
            <a:r>
              <a:rPr lang="en-US" altLang="en-US" sz="2400" dirty="0">
                <a:solidFill>
                  <a:srgbClr val="FFFF00"/>
                </a:solidFill>
              </a:rPr>
              <a:t>Pro forma balance sheets.</a:t>
            </a:r>
          </a:p>
          <a:p>
            <a:pPr marL="914400" indent="-463550" algn="just">
              <a:lnSpc>
                <a:spcPct val="140000"/>
              </a:lnSpc>
              <a:buFontTx/>
              <a:buChar char="•"/>
            </a:pPr>
            <a:r>
              <a:rPr lang="en-US" altLang="en-US" sz="2400" dirty="0">
                <a:solidFill>
                  <a:srgbClr val="FFFF00"/>
                </a:solidFill>
              </a:rPr>
              <a:t>Pro forma cash flows.</a:t>
            </a:r>
          </a:p>
          <a:p>
            <a:pPr marL="914400" indent="-463550" algn="just">
              <a:lnSpc>
                <a:spcPct val="140000"/>
              </a:lnSpc>
              <a:buFontTx/>
              <a:buChar char="•"/>
            </a:pPr>
            <a:r>
              <a:rPr lang="en-US" altLang="en-US" sz="2400" dirty="0">
                <a:solidFill>
                  <a:srgbClr val="FFFF00"/>
                </a:solidFill>
              </a:rPr>
              <a:t>Ratio analysis.</a:t>
            </a:r>
          </a:p>
          <a:p>
            <a:pPr marL="914400" indent="-463550" algn="just">
              <a:lnSpc>
                <a:spcPct val="140000"/>
              </a:lnSpc>
            </a:pPr>
            <a:endParaRPr lang="en-US" altLang="en-US" sz="2400" dirty="0"/>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 Financial Projections</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Tree>
    <p:extLst>
      <p:ext uri="{BB962C8B-B14F-4D97-AF65-F5344CB8AC3E}">
        <p14:creationId xmlns:p14="http://schemas.microsoft.com/office/powerpoint/2010/main" val="164297081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55300" name="Slide Number Placeholder 5"/>
          <p:cNvSpPr>
            <a:spLocks noGrp="1"/>
          </p:cNvSpPr>
          <p:nvPr>
            <p:ph type="sldNum" sz="quarter" idx="12"/>
          </p:nvPr>
        </p:nvSpPr>
        <p:spPr>
          <a:xfrm>
            <a:off x="8534400" y="6400801"/>
            <a:ext cx="580698" cy="457199"/>
          </a:xfrm>
          <a:noFill/>
        </p:spPr>
        <p:txBody>
          <a:bodyPr/>
          <a:lstStyle/>
          <a:p>
            <a:fld id="{C9D662BD-E075-4167-A29B-D0062BD63688}" type="slidenum">
              <a:rPr lang="en-US" smtClean="0"/>
              <a:pPr/>
              <a:t>35</a:t>
            </a:fld>
            <a:endParaRPr lang="en-US" dirty="0"/>
          </a:p>
        </p:txBody>
      </p:sp>
      <p:sp>
        <p:nvSpPr>
          <p:cNvPr id="5" name="Rectangle 276"/>
          <p:cNvSpPr>
            <a:spLocks noChangeArrowheads="1"/>
          </p:cNvSpPr>
          <p:nvPr/>
        </p:nvSpPr>
        <p:spPr bwMode="auto">
          <a:xfrm>
            <a:off x="228600" y="1148920"/>
            <a:ext cx="8686800" cy="5262979"/>
          </a:xfrm>
          <a:prstGeom prst="rect">
            <a:avLst/>
          </a:prstGeom>
          <a:solidFill>
            <a:srgbClr val="002060"/>
          </a:solidFill>
          <a:ln>
            <a:noFill/>
          </a:ln>
        </p:spPr>
        <p:txBody>
          <a:bodyPr wrap="square" anchor="ctr">
            <a:spAutoFit/>
          </a:bodyPr>
          <a:lstStyle/>
          <a:p>
            <a:pPr marL="463550" indent="-463550" algn="just">
              <a:lnSpc>
                <a:spcPct val="140000"/>
              </a:lnSpc>
              <a:buFontTx/>
              <a:buChar char="•"/>
            </a:pPr>
            <a:r>
              <a:rPr lang="en-US" altLang="en-US" sz="2400" b="1" dirty="0">
                <a:solidFill>
                  <a:srgbClr val="FFFF00"/>
                </a:solidFill>
              </a:rPr>
              <a:t>The Oral Presentation</a:t>
            </a:r>
          </a:p>
          <a:p>
            <a:pPr marL="920709" lvl="1" indent="-463550" algn="just">
              <a:lnSpc>
                <a:spcPct val="140000"/>
              </a:lnSpc>
              <a:buFontTx/>
              <a:buChar char="•"/>
            </a:pPr>
            <a:r>
              <a:rPr lang="en-US" altLang="en-US" sz="2400" dirty="0"/>
              <a:t>The first rule in making an oral presentation is to follow directions. If you’re told you have 15 minutes, don’t talk for more than the allotted time</a:t>
            </a:r>
          </a:p>
          <a:p>
            <a:pPr marL="920709" lvl="1" indent="-463550" algn="just">
              <a:lnSpc>
                <a:spcPct val="140000"/>
              </a:lnSpc>
              <a:buFontTx/>
              <a:buChar char="•"/>
            </a:pPr>
            <a:r>
              <a:rPr lang="en-US" altLang="en-US" sz="2400" dirty="0"/>
              <a:t>The presentation should be smooth and well-rehearsed</a:t>
            </a:r>
          </a:p>
          <a:p>
            <a:pPr marL="920709" lvl="1" indent="-463550" algn="just">
              <a:lnSpc>
                <a:spcPct val="140000"/>
              </a:lnSpc>
              <a:buFontTx/>
              <a:buChar char="•"/>
            </a:pPr>
            <a:r>
              <a:rPr lang="en-US" altLang="en-US" sz="2400" dirty="0"/>
              <a:t>The slides should be sharp and not cluttered</a:t>
            </a:r>
          </a:p>
          <a:p>
            <a:pPr marL="463550" indent="-463550" algn="just">
              <a:lnSpc>
                <a:spcPct val="140000"/>
              </a:lnSpc>
              <a:buFontTx/>
              <a:buChar char="•"/>
            </a:pPr>
            <a:r>
              <a:rPr lang="en-US" altLang="en-US" sz="2400" b="1" dirty="0">
                <a:solidFill>
                  <a:srgbClr val="FFFF00"/>
                </a:solidFill>
              </a:rPr>
              <a:t>Questions and Feedback to Expect from Investors</a:t>
            </a:r>
          </a:p>
          <a:p>
            <a:pPr marL="920709" lvl="1" indent="-463550" algn="just">
              <a:lnSpc>
                <a:spcPct val="140000"/>
              </a:lnSpc>
              <a:buFontTx/>
              <a:buChar char="•"/>
            </a:pPr>
            <a:r>
              <a:rPr lang="en-US" altLang="en-US" sz="2400" dirty="0"/>
              <a:t>The smart entrepreneur has a good idea of the questions that will be asked, and will be prepared for those queries</a:t>
            </a:r>
          </a:p>
          <a:p>
            <a:pPr marL="914400" indent="-463550" algn="just">
              <a:lnSpc>
                <a:spcPct val="140000"/>
              </a:lnSpc>
            </a:pPr>
            <a:endParaRPr lang="en-US" altLang="en-US" sz="2400" dirty="0"/>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        Presenting the Business Plan to Investors</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Tree>
    <p:extLst>
      <p:ext uri="{BB962C8B-B14F-4D97-AF65-F5344CB8AC3E}">
        <p14:creationId xmlns:p14="http://schemas.microsoft.com/office/powerpoint/2010/main" val="164297081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7A410777-BD07-4A93-B318-F651785E6C37}"/>
              </a:ext>
            </a:extLst>
          </p:cNvPr>
          <p:cNvPicPr>
            <a:picLocks noChangeAspect="1"/>
          </p:cNvPicPr>
          <p:nvPr/>
        </p:nvPicPr>
        <p:blipFill rotWithShape="1">
          <a:blip r:embed="rId2"/>
          <a:srcRect l="11000" r="-1" b="-1"/>
          <a:stretch/>
        </p:blipFill>
        <p:spPr>
          <a:xfrm>
            <a:off x="20" y="10"/>
            <a:ext cx="9143980" cy="6857990"/>
          </a:xfrm>
          <a:prstGeom prst="rect">
            <a:avLst/>
          </a:prstGeom>
        </p:spPr>
      </p:pic>
      <p:sp>
        <p:nvSpPr>
          <p:cNvPr id="12" name="Rectangle 11">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7" y="-10136"/>
            <a:ext cx="4592270" cy="9144001"/>
          </a:xfrm>
          <a:prstGeom prst="rect">
            <a:avLst/>
          </a:prstGeom>
          <a:gradFill>
            <a:gsLst>
              <a:gs pos="35000">
                <a:schemeClr val="bg1">
                  <a:alpha val="46000"/>
                </a:schemeClr>
              </a:gs>
              <a:gs pos="21000">
                <a:schemeClr val="bg1">
                  <a:alpha val="30000"/>
                </a:schemeClr>
              </a:gs>
              <a:gs pos="0">
                <a:schemeClr val="bg1">
                  <a:alpha val="0"/>
                </a:schemeClr>
              </a:gs>
              <a:gs pos="100000">
                <a:schemeClr val="bg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70DFEB96-7D85-4CE9-B25C-6B56127F4C0A}"/>
              </a:ext>
            </a:extLst>
          </p:cNvPr>
          <p:cNvSpPr>
            <a:spLocks noGrp="1"/>
          </p:cNvSpPr>
          <p:nvPr>
            <p:ph type="title"/>
          </p:nvPr>
        </p:nvSpPr>
        <p:spPr>
          <a:xfrm>
            <a:off x="303414" y="3091928"/>
            <a:ext cx="6808922" cy="2387600"/>
          </a:xfrm>
        </p:spPr>
        <p:txBody>
          <a:bodyPr vert="horz" lIns="91440" tIns="45720" rIns="91440" bIns="45720" rtlCol="0" anchor="b">
            <a:normAutofit/>
          </a:bodyPr>
          <a:lstStyle/>
          <a:p>
            <a:pPr algn="l">
              <a:lnSpc>
                <a:spcPct val="90000"/>
              </a:lnSpc>
            </a:pPr>
            <a:r>
              <a:rPr lang="en-US" sz="5700" dirty="0"/>
              <a:t>How to Write A Business Plan</a:t>
            </a:r>
          </a:p>
        </p:txBody>
      </p:sp>
      <p:sp>
        <p:nvSpPr>
          <p:cNvPr id="14" name="Rectangle: Rounded Corners 13">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2F367C41-4745-4C1C-9A85-0D042FB7950C}"/>
              </a:ext>
            </a:extLst>
          </p:cNvPr>
          <p:cNvSpPr>
            <a:spLocks noGrp="1"/>
          </p:cNvSpPr>
          <p:nvPr>
            <p:ph type="sldNum" sz="quarter" idx="12"/>
          </p:nvPr>
        </p:nvSpPr>
        <p:spPr>
          <a:xfrm>
            <a:off x="6780899" y="6356350"/>
            <a:ext cx="2057400" cy="365125"/>
          </a:xfrm>
        </p:spPr>
        <p:txBody>
          <a:bodyPr vert="horz" lIns="91440" tIns="45720" rIns="91440" bIns="45720" rtlCol="0" anchor="ctr">
            <a:normAutofit/>
          </a:bodyPr>
          <a:lstStyle/>
          <a:p>
            <a:pPr defTabSz="914400">
              <a:spcAft>
                <a:spcPts val="600"/>
              </a:spcAft>
              <a:defRPr/>
            </a:pPr>
            <a:fld id="{1BC07364-43B1-4953-8847-A6026C38780C}" type="slidenum">
              <a:rPr lang="en-US">
                <a:solidFill>
                  <a:schemeClr val="tx1"/>
                </a:solidFill>
                <a:latin typeface="Calibri" panose="020F0502020204030204"/>
              </a:rPr>
              <a:pPr defTabSz="914400">
                <a:spcAft>
                  <a:spcPts val="600"/>
                </a:spcAft>
                <a:defRPr/>
              </a:pPr>
              <a:t>36</a:t>
            </a:fld>
            <a:endParaRPr lang="en-US">
              <a:solidFill>
                <a:schemeClr val="tx1"/>
              </a:solidFill>
              <a:latin typeface="Calibri" panose="020F0502020204030204"/>
            </a:endParaRPr>
          </a:p>
        </p:txBody>
      </p:sp>
      <p:sp>
        <p:nvSpPr>
          <p:cNvPr id="11" name="TextBox 10">
            <a:extLst>
              <a:ext uri="{FF2B5EF4-FFF2-40B4-BE49-F238E27FC236}">
                <a16:creationId xmlns:a16="http://schemas.microsoft.com/office/drawing/2014/main" id="{79363E0B-F624-4D11-A7EC-E0401EA7BA69}"/>
              </a:ext>
            </a:extLst>
          </p:cNvPr>
          <p:cNvSpPr txBox="1"/>
          <p:nvPr/>
        </p:nvSpPr>
        <p:spPr>
          <a:xfrm>
            <a:off x="152400" y="5663848"/>
            <a:ext cx="6781800" cy="461665"/>
          </a:xfrm>
          <a:prstGeom prst="rect">
            <a:avLst/>
          </a:prstGeom>
          <a:noFill/>
        </p:spPr>
        <p:txBody>
          <a:bodyPr wrap="square">
            <a:spAutoFit/>
          </a:bodyPr>
          <a:lstStyle/>
          <a:p>
            <a:r>
              <a:rPr lang="en-US" sz="2400" dirty="0">
                <a:solidFill>
                  <a:schemeClr val="bg1"/>
                </a:solidFill>
              </a:rPr>
              <a:t>https://www.youtube.com/watch?v=FdDR3zzEdks</a:t>
            </a:r>
          </a:p>
        </p:txBody>
      </p:sp>
    </p:spTree>
    <p:extLst>
      <p:ext uri="{BB962C8B-B14F-4D97-AF65-F5344CB8AC3E}">
        <p14:creationId xmlns:p14="http://schemas.microsoft.com/office/powerpoint/2010/main" val="390917009"/>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241"/>
          <p:cNvSpPr>
            <a:spLocks noChangeArrowheads="1"/>
          </p:cNvSpPr>
          <p:nvPr/>
        </p:nvSpPr>
        <p:spPr bwMode="auto">
          <a:xfrm>
            <a:off x="0" y="6046788"/>
            <a:ext cx="184150" cy="457200"/>
          </a:xfrm>
          <a:prstGeom prst="rect">
            <a:avLst/>
          </a:prstGeom>
          <a:noFill/>
          <a:ln w="9525">
            <a:noFill/>
            <a:miter lim="800000"/>
            <a:headEnd/>
            <a:tailEnd/>
          </a:ln>
        </p:spPr>
        <p:txBody>
          <a:bodyPr wrap="none" anchor="ctr">
            <a:spAutoFit/>
          </a:bodyPr>
          <a:lstStyle/>
          <a:p>
            <a:endParaRPr lang="en-US"/>
          </a:p>
        </p:txBody>
      </p:sp>
      <p:sp>
        <p:nvSpPr>
          <p:cNvPr id="9" name="Title Placeholder 1"/>
          <p:cNvSpPr txBox="1">
            <a:spLocks/>
          </p:cNvSpPr>
          <p:nvPr/>
        </p:nvSpPr>
        <p:spPr>
          <a:xfrm>
            <a:off x="0" y="0"/>
            <a:ext cx="9144000" cy="838200"/>
          </a:xfrm>
          <a:prstGeom prst="rect">
            <a:avLst/>
          </a:prstGeom>
          <a:solidFill>
            <a:srgbClr val="003300"/>
          </a:solidFill>
          <a:scene3d>
            <a:camera prst="orthographicFront"/>
            <a:lightRig rig="threePt" dir="t"/>
          </a:scene3d>
          <a:sp3d>
            <a:bevelT prst="relaxedInset"/>
          </a:sp3d>
        </p:spPr>
        <p:txBody>
          <a:bodyPr vert="horz" lIns="91440" tIns="45720" rIns="91440" bIns="45720" rtlCol="0" anchor="ctr">
            <a:noAutofit/>
          </a:bodyPr>
          <a:lstStyle/>
          <a:p>
            <a:pPr algn="ctr" fontAlgn="base"/>
            <a:r>
              <a:rPr lang="en-US" sz="3600" b="1" dirty="0">
                <a:solidFill>
                  <a:srgbClr val="FFFF00"/>
                </a:solidFill>
              </a:rPr>
              <a:t>        Presenting the Business Plan to Investors</a:t>
            </a:r>
          </a:p>
        </p:txBody>
      </p:sp>
      <p:pic>
        <p:nvPicPr>
          <p:cNvPr id="7" name="Picture 2" descr="http://technologytimes.pk/wp-content/images/numal.gif"/>
          <p:cNvPicPr>
            <a:picLocks noChangeAspect="1" noChangeArrowheads="1"/>
          </p:cNvPicPr>
          <p:nvPr/>
        </p:nvPicPr>
        <p:blipFill>
          <a:blip r:embed="rId2" cstate="print"/>
          <a:srcRect/>
          <a:stretch>
            <a:fillRect/>
          </a:stretch>
        </p:blipFill>
        <p:spPr bwMode="auto">
          <a:xfrm>
            <a:off x="-45720" y="1"/>
            <a:ext cx="1066800" cy="914399"/>
          </a:xfrm>
          <a:prstGeom prst="rect">
            <a:avLst/>
          </a:prstGeom>
          <a:noFill/>
        </p:spPr>
      </p:pic>
      <p:sp>
        <p:nvSpPr>
          <p:cNvPr id="8" name="Text Box 6"/>
          <p:cNvSpPr txBox="1">
            <a:spLocks noChangeArrowheads="1"/>
          </p:cNvSpPr>
          <p:nvPr/>
        </p:nvSpPr>
        <p:spPr bwMode="auto">
          <a:xfrm>
            <a:off x="304800" y="1447800"/>
            <a:ext cx="8229600" cy="381323"/>
          </a:xfrm>
          <a:prstGeom prst="rect">
            <a:avLst/>
          </a:prstGeom>
          <a:noFill/>
          <a:ln w="9525">
            <a:noFill/>
            <a:miter lim="800000"/>
            <a:headEnd/>
            <a:tailEnd/>
          </a:ln>
        </p:spPr>
        <p:txBody>
          <a:bodyPr>
            <a:spAutoFit/>
          </a:bodyPr>
          <a:lstStyle/>
          <a:p>
            <a:pPr algn="ctr" eaLnBrk="1" hangingPunct="1">
              <a:lnSpc>
                <a:spcPct val="75000"/>
              </a:lnSpc>
              <a:spcBef>
                <a:spcPct val="50000"/>
              </a:spcBef>
            </a:pPr>
            <a:r>
              <a:rPr lang="en-US" altLang="en-US" sz="2400" b="1" dirty="0">
                <a:solidFill>
                  <a:srgbClr val="FFFF00"/>
                </a:solidFill>
              </a:rPr>
              <a:t>Twelve PowerPoint Slides to Include in an Investor Presentation</a:t>
            </a:r>
          </a:p>
        </p:txBody>
      </p:sp>
      <p:sp>
        <p:nvSpPr>
          <p:cNvPr id="10" name="TextBox 6"/>
          <p:cNvSpPr txBox="1">
            <a:spLocks noChangeArrowheads="1"/>
          </p:cNvSpPr>
          <p:nvPr/>
        </p:nvSpPr>
        <p:spPr bwMode="auto">
          <a:xfrm>
            <a:off x="381000" y="2057400"/>
            <a:ext cx="4495800" cy="2819400"/>
          </a:xfrm>
          <a:prstGeom prst="rect">
            <a:avLst/>
          </a:prstGeom>
          <a:noFill/>
          <a:ln w="9525">
            <a:noFill/>
            <a:miter lim="800000"/>
            <a:headEnd/>
            <a:tailEnd/>
          </a:ln>
        </p:spPr>
        <p:txBody>
          <a:bodyPr>
            <a:spAutoFit/>
          </a:bodyPr>
          <a:lstStyle/>
          <a:p>
            <a:pPr marL="457200" indent="-457200" eaLnBrk="1" hangingPunct="1">
              <a:lnSpc>
                <a:spcPts val="3600"/>
              </a:lnSpc>
              <a:buFontTx/>
              <a:buAutoNum type="arabicPeriod"/>
            </a:pPr>
            <a:r>
              <a:rPr lang="en-US" altLang="en-US" sz="2400" dirty="0"/>
              <a:t>Title Slide</a:t>
            </a:r>
          </a:p>
          <a:p>
            <a:pPr marL="457200" indent="-457200" eaLnBrk="1" hangingPunct="1">
              <a:lnSpc>
                <a:spcPts val="3600"/>
              </a:lnSpc>
              <a:buFontTx/>
              <a:buAutoNum type="arabicPeriod"/>
            </a:pPr>
            <a:r>
              <a:rPr lang="en-US" altLang="en-US" sz="2400" dirty="0"/>
              <a:t>Problem</a:t>
            </a:r>
          </a:p>
          <a:p>
            <a:pPr marL="457200" indent="-457200" eaLnBrk="1" hangingPunct="1">
              <a:lnSpc>
                <a:spcPts val="3600"/>
              </a:lnSpc>
              <a:buFontTx/>
              <a:buAutoNum type="arabicPeriod"/>
            </a:pPr>
            <a:r>
              <a:rPr lang="en-US" altLang="en-US" sz="2400" dirty="0"/>
              <a:t>Solution</a:t>
            </a:r>
          </a:p>
          <a:p>
            <a:pPr marL="457200" indent="-457200" eaLnBrk="1" hangingPunct="1">
              <a:lnSpc>
                <a:spcPts val="3600"/>
              </a:lnSpc>
              <a:buFontTx/>
              <a:buAutoNum type="arabicPeriod"/>
            </a:pPr>
            <a:r>
              <a:rPr lang="en-US" altLang="en-US" sz="2400" dirty="0"/>
              <a:t>Opportunity and target market</a:t>
            </a:r>
          </a:p>
          <a:p>
            <a:pPr marL="457200" indent="-457200" eaLnBrk="1" hangingPunct="1">
              <a:lnSpc>
                <a:spcPts val="3600"/>
              </a:lnSpc>
              <a:buFontTx/>
              <a:buAutoNum type="arabicPeriod"/>
            </a:pPr>
            <a:r>
              <a:rPr lang="en-US" altLang="en-US" sz="2400" dirty="0"/>
              <a:t>Technology</a:t>
            </a:r>
          </a:p>
          <a:p>
            <a:pPr marL="457200" indent="-457200" eaLnBrk="1" hangingPunct="1">
              <a:lnSpc>
                <a:spcPts val="3600"/>
              </a:lnSpc>
              <a:buFontTx/>
              <a:buAutoNum type="arabicPeriod"/>
            </a:pPr>
            <a:r>
              <a:rPr lang="en-US" altLang="en-US" sz="2400" dirty="0"/>
              <a:t>Competition</a:t>
            </a:r>
          </a:p>
        </p:txBody>
      </p:sp>
      <p:sp>
        <p:nvSpPr>
          <p:cNvPr id="11" name="TextBox 8"/>
          <p:cNvSpPr txBox="1">
            <a:spLocks noChangeArrowheads="1"/>
          </p:cNvSpPr>
          <p:nvPr/>
        </p:nvSpPr>
        <p:spPr bwMode="auto">
          <a:xfrm>
            <a:off x="4953000" y="2057400"/>
            <a:ext cx="4343400" cy="2819400"/>
          </a:xfrm>
          <a:prstGeom prst="rect">
            <a:avLst/>
          </a:prstGeom>
          <a:noFill/>
          <a:ln w="9525">
            <a:noFill/>
            <a:miter lim="800000"/>
            <a:headEnd/>
            <a:tailEnd/>
          </a:ln>
        </p:spPr>
        <p:txBody>
          <a:bodyPr>
            <a:spAutoFit/>
          </a:bodyPr>
          <a:lstStyle/>
          <a:p>
            <a:pPr marL="457200" indent="-457200" eaLnBrk="1" hangingPunct="1">
              <a:lnSpc>
                <a:spcPts val="3600"/>
              </a:lnSpc>
            </a:pPr>
            <a:r>
              <a:rPr lang="en-US" altLang="en-US" sz="2400" dirty="0"/>
              <a:t>7.	Marketing and sales</a:t>
            </a:r>
          </a:p>
          <a:p>
            <a:pPr marL="457200" indent="-457200" eaLnBrk="1" hangingPunct="1">
              <a:lnSpc>
                <a:spcPts val="3600"/>
              </a:lnSpc>
            </a:pPr>
            <a:r>
              <a:rPr lang="en-US" altLang="en-US" sz="2400" dirty="0"/>
              <a:t>8.	Management team</a:t>
            </a:r>
          </a:p>
          <a:p>
            <a:pPr marL="457200" indent="-457200" eaLnBrk="1" hangingPunct="1">
              <a:lnSpc>
                <a:spcPts val="3600"/>
              </a:lnSpc>
            </a:pPr>
            <a:r>
              <a:rPr lang="en-US" altLang="en-US" sz="2400" dirty="0"/>
              <a:t>9.	Financial projections</a:t>
            </a:r>
          </a:p>
          <a:p>
            <a:pPr marL="457200" indent="-457200" eaLnBrk="1" hangingPunct="1">
              <a:lnSpc>
                <a:spcPts val="3600"/>
              </a:lnSpc>
            </a:pPr>
            <a:r>
              <a:rPr lang="en-US" altLang="en-US" sz="2400" dirty="0"/>
              <a:t>10.	Current status</a:t>
            </a:r>
          </a:p>
          <a:p>
            <a:pPr marL="457200" indent="-457200" eaLnBrk="1" hangingPunct="1">
              <a:lnSpc>
                <a:spcPts val="3600"/>
              </a:lnSpc>
            </a:pPr>
            <a:r>
              <a:rPr lang="en-US" altLang="en-US" sz="2400" dirty="0"/>
              <a:t>11.	Financing sought</a:t>
            </a:r>
          </a:p>
          <a:p>
            <a:pPr marL="457200" indent="-457200" eaLnBrk="1" hangingPunct="1">
              <a:lnSpc>
                <a:spcPts val="3600"/>
              </a:lnSpc>
            </a:pPr>
            <a:r>
              <a:rPr lang="en-US" altLang="en-US" sz="2400" dirty="0"/>
              <a:t>12.	Summary</a:t>
            </a:r>
          </a:p>
        </p:txBody>
      </p:sp>
      <p:sp>
        <p:nvSpPr>
          <p:cNvPr id="12" name="Slide Number Placeholder 5"/>
          <p:cNvSpPr>
            <a:spLocks noGrp="1"/>
          </p:cNvSpPr>
          <p:nvPr>
            <p:ph type="sldNum" sz="quarter" idx="12"/>
          </p:nvPr>
        </p:nvSpPr>
        <p:spPr>
          <a:xfrm>
            <a:off x="8534400" y="6400801"/>
            <a:ext cx="580698" cy="457199"/>
          </a:xfrm>
          <a:noFill/>
        </p:spPr>
        <p:txBody>
          <a:bodyPr/>
          <a:lstStyle/>
          <a:p>
            <a:pPr algn="ctr"/>
            <a:fld id="{C9D662BD-E075-4167-A29B-D0062BD63688}" type="slidenum">
              <a:rPr lang="en-US" smtClean="0"/>
              <a:pPr algn="ctr"/>
              <a:t>37</a:t>
            </a:fld>
            <a:endParaRPr lang="en-US" dirty="0"/>
          </a:p>
        </p:txBody>
      </p:sp>
    </p:spTree>
    <p:extLst>
      <p:ext uri="{BB962C8B-B14F-4D97-AF65-F5344CB8AC3E}">
        <p14:creationId xmlns:p14="http://schemas.microsoft.com/office/powerpoint/2010/main" val="164297081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A25D70-4A55-4F72-B9C5-A69CDBF4D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4957100-6D8B-4161-9F2F-C0A949EC8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3" name="Rectangle 12">
            <a:extLst>
              <a:ext uri="{FF2B5EF4-FFF2-40B4-BE49-F238E27FC236}">
                <a16:creationId xmlns:a16="http://schemas.microsoft.com/office/drawing/2014/main" id="{0BD8B065-EE51-4AE2-A94C-86249998FD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8FBF3AA7-DB64-4136-BC88-ED2930E0E837}"/>
              </a:ext>
            </a:extLst>
          </p:cNvPr>
          <p:cNvSpPr>
            <a:spLocks noGrp="1"/>
          </p:cNvSpPr>
          <p:nvPr>
            <p:ph type="title"/>
          </p:nvPr>
        </p:nvSpPr>
        <p:spPr>
          <a:xfrm>
            <a:off x="2528840" y="1741337"/>
            <a:ext cx="4938760" cy="2387918"/>
          </a:xfrm>
        </p:spPr>
        <p:txBody>
          <a:bodyPr vert="horz" lIns="91440" tIns="45720" rIns="91440" bIns="45720" rtlCol="0" anchor="b">
            <a:normAutofit/>
          </a:bodyPr>
          <a:lstStyle/>
          <a:p>
            <a:pPr>
              <a:lnSpc>
                <a:spcPct val="90000"/>
              </a:lnSpc>
            </a:pPr>
            <a:r>
              <a:rPr lang="en-US" sz="4500" kern="1200" dirty="0">
                <a:solidFill>
                  <a:schemeClr val="tx2"/>
                </a:solidFill>
                <a:latin typeface="+mj-lt"/>
                <a:ea typeface="+mj-ea"/>
                <a:cs typeface="+mj-cs"/>
              </a:rPr>
              <a:t>Presentation Skills</a:t>
            </a:r>
          </a:p>
        </p:txBody>
      </p:sp>
      <p:sp>
        <p:nvSpPr>
          <p:cNvPr id="4" name="Content Placeholder 3">
            <a:extLst>
              <a:ext uri="{FF2B5EF4-FFF2-40B4-BE49-F238E27FC236}">
                <a16:creationId xmlns:a16="http://schemas.microsoft.com/office/drawing/2014/main" id="{61611554-07A7-4CA2-A2DB-D84FFFB4B336}"/>
              </a:ext>
            </a:extLst>
          </p:cNvPr>
          <p:cNvSpPr>
            <a:spLocks noGrp="1"/>
          </p:cNvSpPr>
          <p:nvPr>
            <p:ph idx="1"/>
          </p:nvPr>
        </p:nvSpPr>
        <p:spPr>
          <a:xfrm>
            <a:off x="2147605" y="4395031"/>
            <a:ext cx="5701230" cy="682079"/>
          </a:xfrm>
        </p:spPr>
        <p:txBody>
          <a:bodyPr vert="horz" lIns="91440" tIns="45720" rIns="91440" bIns="45720" rtlCol="0">
            <a:normAutofit/>
          </a:bodyPr>
          <a:lstStyle/>
          <a:p>
            <a:pPr marL="0" indent="0" algn="ctr">
              <a:lnSpc>
                <a:spcPct val="90000"/>
              </a:lnSpc>
              <a:spcBef>
                <a:spcPts val="1000"/>
              </a:spcBef>
              <a:buNone/>
            </a:pPr>
            <a:r>
              <a:rPr lang="en-US" sz="2000" kern="1200" dirty="0">
                <a:solidFill>
                  <a:schemeClr val="tx2"/>
                </a:solidFill>
                <a:latin typeface="+mn-lt"/>
                <a:ea typeface="+mn-ea"/>
                <a:cs typeface="+mn-cs"/>
              </a:rPr>
              <a:t>https://www.youtube.com/watch?v=EaxfbOINtaU</a:t>
            </a:r>
          </a:p>
        </p:txBody>
      </p:sp>
      <p:grpSp>
        <p:nvGrpSpPr>
          <p:cNvPr id="15" name="Group 14">
            <a:extLst>
              <a:ext uri="{FF2B5EF4-FFF2-40B4-BE49-F238E27FC236}">
                <a16:creationId xmlns:a16="http://schemas.microsoft.com/office/drawing/2014/main" id="{18999293-B054-4B57-A26F-D04C2BB113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672" y="-43336"/>
            <a:ext cx="3872284" cy="2657478"/>
            <a:chOff x="6867015" y="-1"/>
            <a:chExt cx="5324985" cy="3251912"/>
          </a:xfrm>
          <a:solidFill>
            <a:schemeClr val="bg1">
              <a:alpha val="30000"/>
            </a:schemeClr>
          </a:solidFill>
        </p:grpSpPr>
        <p:sp>
          <p:nvSpPr>
            <p:cNvPr id="16" name="Freeform: Shape 15">
              <a:extLst>
                <a:ext uri="{FF2B5EF4-FFF2-40B4-BE49-F238E27FC236}">
                  <a16:creationId xmlns:a16="http://schemas.microsoft.com/office/drawing/2014/main" id="{5E505D8A-F41A-450D-A648-E77DF6B8D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2BD6DCE-6A81-4F34-9958-67B578EA1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C462BE8-CD72-48CF-8A7B-C716D2B99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1C2CDB70-40F1-4D00-8F17-A532E732E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761945C4-D997-42F3-B59A-984CF00667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6793706" y="4146310"/>
            <a:ext cx="2356800" cy="2716805"/>
            <a:chOff x="-305" y="-4155"/>
            <a:chExt cx="2514948" cy="2174333"/>
          </a:xfrm>
          <a:solidFill>
            <a:schemeClr val="bg1">
              <a:alpha val="30000"/>
            </a:schemeClr>
          </a:solidFill>
        </p:grpSpPr>
        <p:sp>
          <p:nvSpPr>
            <p:cNvPr id="22" name="Freeform: Shape 21">
              <a:extLst>
                <a:ext uri="{FF2B5EF4-FFF2-40B4-BE49-F238E27FC236}">
                  <a16:creationId xmlns:a16="http://schemas.microsoft.com/office/drawing/2014/main" id="{4651FE4A-9487-43BE-A388-134535743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F44B0EF3-9992-4B95-8A43-6206B3FC3F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041B1C1F-C2FE-4C47-9D74-ADB9B53F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5" name="Freeform: Shape 24">
              <a:extLst>
                <a:ext uri="{FF2B5EF4-FFF2-40B4-BE49-F238E27FC236}">
                  <a16:creationId xmlns:a16="http://schemas.microsoft.com/office/drawing/2014/main" id="{1048177B-A49E-4E24-9007-07A0EDD6A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Slide Number Placeholder 1">
            <a:extLst>
              <a:ext uri="{FF2B5EF4-FFF2-40B4-BE49-F238E27FC236}">
                <a16:creationId xmlns:a16="http://schemas.microsoft.com/office/drawing/2014/main" id="{8B844B4F-3F6B-4EFE-AC2D-23E1F9673ABF}"/>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1BC07364-43B1-4953-8847-A6026C38780C}" type="slidenum">
              <a:rPr lang="en-US" smtClean="0"/>
              <a:pPr defTabSz="914400">
                <a:spcAft>
                  <a:spcPts val="600"/>
                </a:spcAft>
                <a:defRPr/>
              </a:pPr>
              <a:t>38</a:t>
            </a:fld>
            <a:endParaRPr lang="en-US"/>
          </a:p>
        </p:txBody>
      </p:sp>
    </p:spTree>
    <p:extLst>
      <p:ext uri="{BB962C8B-B14F-4D97-AF65-F5344CB8AC3E}">
        <p14:creationId xmlns:p14="http://schemas.microsoft.com/office/powerpoint/2010/main" val="32036918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C2243E-9B0E-4B13-9255-CB74CC6C027B}"/>
              </a:ext>
            </a:extLst>
          </p:cNvPr>
          <p:cNvSpPr>
            <a:spLocks noGrp="1"/>
          </p:cNvSpPr>
          <p:nvPr>
            <p:ph type="title"/>
          </p:nvPr>
        </p:nvSpPr>
        <p:spPr/>
        <p:txBody>
          <a:bodyPr/>
          <a:lstStyle/>
          <a:p>
            <a:r>
              <a:rPr lang="en-US"/>
              <a:t>Lecture Video Link</a:t>
            </a:r>
            <a:endParaRPr lang="en-US" dirty="0"/>
          </a:p>
        </p:txBody>
      </p:sp>
      <p:sp>
        <p:nvSpPr>
          <p:cNvPr id="10" name="Content Placeholder 9">
            <a:extLst>
              <a:ext uri="{FF2B5EF4-FFF2-40B4-BE49-F238E27FC236}">
                <a16:creationId xmlns:a16="http://schemas.microsoft.com/office/drawing/2014/main" id="{99712494-A621-4493-9C5B-9747627033F7}"/>
              </a:ext>
            </a:extLst>
          </p:cNvPr>
          <p:cNvSpPr>
            <a:spLocks noGrp="1"/>
          </p:cNvSpPr>
          <p:nvPr>
            <p:ph sz="half" idx="2"/>
          </p:nvPr>
        </p:nvSpPr>
        <p:spPr>
          <a:xfrm>
            <a:off x="4443044" y="1600200"/>
            <a:ext cx="4548556" cy="4525963"/>
          </a:xfrm>
        </p:spPr>
        <p:txBody>
          <a:bodyPr/>
          <a:lstStyle/>
          <a:p>
            <a:r>
              <a:rPr lang="en-US" dirty="0">
                <a:hlinkClick r:id="rId2"/>
              </a:rPr>
              <a:t>https://www.youtube.com/watch?v=qMWBSq2SnAQ</a:t>
            </a:r>
            <a:endParaRPr lang="en-US" dirty="0"/>
          </a:p>
        </p:txBody>
      </p:sp>
      <p:sp>
        <p:nvSpPr>
          <p:cNvPr id="2" name="Slide Number Placeholder 1">
            <a:extLst>
              <a:ext uri="{FF2B5EF4-FFF2-40B4-BE49-F238E27FC236}">
                <a16:creationId xmlns:a16="http://schemas.microsoft.com/office/drawing/2014/main" id="{1E1CB616-36B3-40B5-86B7-4F620910B578}"/>
              </a:ext>
            </a:extLst>
          </p:cNvPr>
          <p:cNvSpPr>
            <a:spLocks noGrp="1"/>
          </p:cNvSpPr>
          <p:nvPr>
            <p:ph type="sldNum" sz="quarter" idx="12"/>
          </p:nvPr>
        </p:nvSpPr>
        <p:spPr/>
        <p:txBody>
          <a:bodyPr/>
          <a:lstStyle/>
          <a:p>
            <a:pPr>
              <a:defRPr/>
            </a:pPr>
            <a:fld id="{1BC07364-43B1-4953-8847-A6026C38780C}" type="slidenum">
              <a:rPr lang="en-US" smtClean="0"/>
              <a:pPr>
                <a:defRPr/>
              </a:pPr>
              <a:t>39</a:t>
            </a:fld>
            <a:endParaRPr lang="en-US"/>
          </a:p>
        </p:txBody>
      </p:sp>
      <p:pic>
        <p:nvPicPr>
          <p:cNvPr id="11" name="Content Placeholder 6" descr="A person wearing a suit and tie&#10;&#10;Description automatically generated">
            <a:extLst>
              <a:ext uri="{FF2B5EF4-FFF2-40B4-BE49-F238E27FC236}">
                <a16:creationId xmlns:a16="http://schemas.microsoft.com/office/drawing/2014/main" id="{C30E6E66-7565-403A-89B1-B61E750FF58D}"/>
              </a:ext>
            </a:extLst>
          </p:cNvPr>
          <p:cNvPicPr>
            <a:picLocks noGrp="1" noChangeAspect="1"/>
          </p:cNvPicPr>
          <p:nvPr>
            <p:ph sz="half" idx="1"/>
          </p:nvPr>
        </p:nvPicPr>
        <p:blipFill rotWithShape="1">
          <a:blip r:embed="rId3">
            <a:alphaModFix/>
            <a:extLst>
              <a:ext uri="{28A0092B-C50C-407E-A947-70E740481C1C}">
                <a14:useLocalDpi xmlns:a14="http://schemas.microsoft.com/office/drawing/2010/main" val="0"/>
              </a:ext>
            </a:extLst>
          </a:blip>
          <a:srcRect r="13102" b="3"/>
          <a:stretch/>
        </p:blipFill>
        <p:spPr>
          <a:xfrm>
            <a:off x="509955" y="1600200"/>
            <a:ext cx="3933089" cy="4525963"/>
          </a:xfrm>
          <a:custGeom>
            <a:avLst/>
            <a:gdLst/>
            <a:ahLst/>
            <a:cxnLst/>
            <a:rect l="l" t="t" r="r" b="b"/>
            <a:pathLst>
              <a:path w="5298683" h="6097438">
                <a:moveTo>
                  <a:pt x="2178155" y="0"/>
                </a:moveTo>
                <a:cubicBezTo>
                  <a:pt x="3901575" y="0"/>
                  <a:pt x="5298683" y="1397108"/>
                  <a:pt x="5298683" y="3120527"/>
                </a:cubicBezTo>
                <a:cubicBezTo>
                  <a:pt x="5298683" y="4413092"/>
                  <a:pt x="4512810" y="5522106"/>
                  <a:pt x="3392805" y="5995828"/>
                </a:cubicBezTo>
                <a:lnTo>
                  <a:pt x="3115184" y="6097438"/>
                </a:lnTo>
                <a:lnTo>
                  <a:pt x="1241127" y="6097438"/>
                </a:lnTo>
                <a:lnTo>
                  <a:pt x="963506" y="5995828"/>
                </a:lnTo>
                <a:cubicBezTo>
                  <a:pt x="683504" y="5877397"/>
                  <a:pt x="424387" y="5719261"/>
                  <a:pt x="193210" y="5528477"/>
                </a:cubicBezTo>
                <a:lnTo>
                  <a:pt x="0" y="5352876"/>
                </a:lnTo>
                <a:lnTo>
                  <a:pt x="0" y="888178"/>
                </a:lnTo>
                <a:lnTo>
                  <a:pt x="193210" y="712577"/>
                </a:lnTo>
                <a:cubicBezTo>
                  <a:pt x="732621" y="267415"/>
                  <a:pt x="1424159" y="0"/>
                  <a:pt x="2178155" y="0"/>
                </a:cubicBezTo>
                <a:close/>
              </a:path>
            </a:pathLst>
          </a:custGeom>
          <a:effectLst>
            <a:softEdge rad="0"/>
          </a:effectLst>
        </p:spPr>
      </p:pic>
    </p:spTree>
    <p:extLst>
      <p:ext uri="{BB962C8B-B14F-4D97-AF65-F5344CB8AC3E}">
        <p14:creationId xmlns:p14="http://schemas.microsoft.com/office/powerpoint/2010/main" val="2723579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1658</Words>
  <Application>Microsoft Office PowerPoint</Application>
  <PresentationFormat>On-screen Show (4:3)</PresentationFormat>
  <Paragraphs>221</Paragraphs>
  <Slides>39</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39</vt:i4>
      </vt:variant>
    </vt:vector>
  </HeadingPairs>
  <TitlesOfParts>
    <vt:vector size="44" baseType="lpstr">
      <vt:lpstr>Arial</vt:lpstr>
      <vt:lpstr>Calibri</vt:lpstr>
      <vt:lpstr>Wingdings</vt:lpstr>
      <vt:lpstr>Office Theme</vt:lpstr>
      <vt:lpstr>1_Office Theme</vt:lpstr>
      <vt:lpstr>Writing A Busines Plan </vt:lpstr>
      <vt:lpstr>PowerPoint Presentation</vt:lpstr>
      <vt:lpstr>PowerPoint Presentation</vt:lpstr>
      <vt:lpstr>PowerPoint Presentation</vt:lpstr>
      <vt:lpstr>PowerPoint Presentation</vt:lpstr>
      <vt:lpstr>PowerPoint Presentation</vt:lpstr>
      <vt:lpstr>Purpose of a Business Plan</vt:lpstr>
      <vt:lpstr> Reasons for Writing a Business Plan</vt:lpstr>
      <vt:lpstr> Internal Reasons</vt:lpstr>
      <vt:lpstr> External Reasons</vt:lpstr>
      <vt:lpstr>Why Do Business Fails?</vt:lpstr>
      <vt:lpstr>PowerPoint Presentation</vt:lpstr>
      <vt:lpstr>PowerPoint Presentation</vt:lpstr>
      <vt:lpstr>PowerPoint Presentation</vt:lpstr>
      <vt:lpstr>PowerPoint Presentation</vt:lpstr>
      <vt:lpstr>PowerPoint Presentation</vt:lpstr>
      <vt:lpstr>Executive Summary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DOVE Promotion</vt:lpstr>
      <vt:lpstr>PowerPoint Presentation</vt:lpstr>
      <vt:lpstr>Operational 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Write A Business Plan</vt:lpstr>
      <vt:lpstr>PowerPoint Presentation</vt:lpstr>
      <vt:lpstr>Presentation Skills</vt:lpstr>
      <vt:lpstr>Lecture Video Link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A Busines Plan </dc:title>
  <dc:creator>Jehanzaib Akram</dc:creator>
  <cp:lastModifiedBy>jehanzaib akram</cp:lastModifiedBy>
  <cp:revision>6</cp:revision>
  <dcterms:created xsi:type="dcterms:W3CDTF">2020-10-03T11:33:14Z</dcterms:created>
  <dcterms:modified xsi:type="dcterms:W3CDTF">2026-03-10T05:19:53Z</dcterms:modified>
</cp:coreProperties>
</file>